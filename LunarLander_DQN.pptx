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870E3E22-A539-8B25-5034-B42097F108DD}">
          <p14:sldIdLst>
            <p14:sldId id="256"/>
          </p14:sldIdLst>
        </p14:section>
        <p14:section name="Approach" id="{8A66A850-B284-337D-768C-5BCDEBE4F4BD}">
          <p14:sldIdLst>
            <p14:sldId id="257"/>
          </p14:sldIdLst>
        </p14:section>
        <p14:section name="Architecture" id="{D4E48CF9-70F9-19D7-4144-888A41657002}">
          <p14:sldIdLst>
            <p14:sldId id="258"/>
          </p14:sldIdLst>
        </p14:section>
        <p14:section name="Execution" id="{EE881F06-D3F0-C1D8-CDFF-C6BE8E880F20}">
          <p14:sldIdLst>
            <p14:sldId id="259"/>
          </p14:sldIdLst>
        </p14:section>
        <p14:section name="Results" id="{D3C6CAA7-67ED-6A31-C3F8-FAED7D122DE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F8FAFC"/>
                </a:solidFill>
                <a:latin typeface="+mn-lt"/>
              </a:defRPr>
            </a:pPr>
            <a:r>
              <a:rPr lang="en-US" sz="1100" b="0" i="0" u="none" strike="noStrike">
                <a:solidFill>
                  <a:srgbClr val="F8FAFC"/>
                </a:solidFill>
                <a:latin typeface="+mn-lt"/>
              </a:rPr>
              <a:t>Score in each test run</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38BDF8"/>
            </a:solidFill>
            <a:effectLst/>
          </c:spPr>
          <c:invertIfNegative val="0"/>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240.9</c:v>
                </c:pt>
                <c:pt idx="1">
                  <c:v>244.9</c:v>
                </c:pt>
                <c:pt idx="2">
                  <c:v>224.5</c:v>
                </c:pt>
                <c:pt idx="3">
                  <c:v>225</c:v>
                </c:pt>
                <c:pt idx="4">
                  <c:v>208.5</c:v>
                </c:pt>
                <c:pt idx="5">
                  <c:v>259.8</c:v>
                </c:pt>
                <c:pt idx="6">
                  <c:v>267.5</c:v>
                </c:pt>
                <c:pt idx="7">
                  <c:v>247.3</c:v>
                </c:pt>
                <c:pt idx="8">
                  <c:v>253.5</c:v>
                </c:pt>
                <c:pt idx="9">
                  <c:v>267.89999999999998</c:v>
                </c:pt>
                <c:pt idx="10">
                  <c:v>218.5</c:v>
                </c:pt>
                <c:pt idx="11">
                  <c:v>172.2</c:v>
                </c:pt>
                <c:pt idx="12">
                  <c:v>122.7</c:v>
                </c:pt>
                <c:pt idx="13">
                  <c:v>229.1</c:v>
                </c:pt>
                <c:pt idx="14">
                  <c:v>176.2</c:v>
                </c:pt>
                <c:pt idx="15">
                  <c:v>228.1</c:v>
                </c:pt>
                <c:pt idx="16">
                  <c:v>103.7</c:v>
                </c:pt>
                <c:pt idx="17">
                  <c:v>281.8</c:v>
                </c:pt>
                <c:pt idx="18">
                  <c:v>93.1</c:v>
                </c:pt>
                <c:pt idx="19">
                  <c:v>229</c:v>
                </c:pt>
              </c:numCache>
            </c:numRef>
          </c:val>
          <c:extLst>
            <c:ext xmlns:c16="http://schemas.microsoft.com/office/drawing/2014/chart" uri="{C3380CC4-5D6E-409C-BE32-E72D297353CC}">
              <c16:uniqueId val="{00000000-5F08-4830-ACF2-15FB81576782}"/>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4A3B8"/>
                </a:solidFill>
                <a:latin typeface="+mn-lt"/>
              </a:defRPr>
            </a:pPr>
            <a:endParaRPr lang="en-US"/>
          </a:p>
        </c:txPr>
        <c:crossAx val="2094734552"/>
        <c:crosses val="autoZero"/>
        <c:auto val="1"/>
        <c:lblAlgn val="ctr"/>
        <c:lblOffset val="100"/>
        <c:noMultiLvlLbl val="1"/>
      </c:catAx>
      <c:valAx>
        <c:axId val="2094734552"/>
        <c:scaling>
          <c:orientation val="minMax"/>
          <c:max val="300"/>
          <c:min val="0"/>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mn-lt"/>
              </a:defRPr>
            </a:pPr>
            <a:endParaRPr lang="en-US"/>
          </a:p>
        </c:txPr>
        <c:crossAx val="2094734554"/>
        <c:crosses val="autoZero"/>
        <c:crossBetween val="between"/>
        <c:majorUnit val="1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783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teaches an AI agent to land a spacecraft in the LunarLander simulator, using a Deep Q-Network built with Python, PyTorch and Gymnasium. The picture is the trained agent coming down to land.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looks at the lander's state, picks one of four actions, and the environment gives back a reward and the next state. Doing this over and over, the agent gets better. DQN is the neural network that estimates how good each action is. (~50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train.py runs the training loop. The agent in agent.py picks actions using the network in network.py and keeps its experiences in memory.py. Random batches from memory are used to update the network. The weights are saved to a .pth file, and watch_agent.py loads that file to show the trained agent in the simulation. (~60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one loop: see the state, pick an action (random early, learned later), get a reward, store the experience, train the network on a batch, and go again. Once the average reward hits the target, the checkpoint is saved. Evaluation is separate: load the checkpoint and watch the agent. (~60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results: I ran the saved checkpoint for 20 test runs. The average score was about 215 and 15 of 20 runs scored 200 or more. A few runs scored lower, so steadier training and tuning are the next steps. The training reward curve still needs to be added from a fresh run of train.py. (~50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51560"/>
            <a:ext cx="3886200" cy="1783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51560"/>
            <a:ext cx="3886200" cy="1783080"/>
          </a:xfrm>
          <a:prstGeom prst="rect">
            <a:avLst/>
          </a:prstGeom>
          <a:noFill/>
          <a:ln/>
        </p:spPr>
        <p:txBody>
          <a:bodyPr wrap="square" lIns="0" tIns="0" rIns="0" bIns="0" rtlCol="0" anchor="t"/>
          <a:lstStyle/>
          <a:p>
            <a:pPr marL="0" indent="0" algn="l">
              <a:buNone/>
            </a:pPr>
            <a:r>
              <a:rPr lang="en-US" sz="2800" b="1" dirty="0">
                <a:solidFill>
                  <a:schemeClr val="tx1"/>
                </a:solidFill>
              </a:rPr>
              <a:t>Autonomous Lunar Lander Using Deep Reinforcement Learning</a:t>
            </a:r>
            <a:endParaRPr lang="en-US" sz="2800" dirty="0"/>
          </a:p>
        </p:txBody>
      </p:sp>
      <p:sp>
        <p:nvSpPr>
          <p:cNvPr id="3" name="Text 1"/>
          <p:cNvSpPr txBox="1"/>
          <p:nvPr/>
        </p:nvSpPr>
        <p:spPr>
          <a:xfrm>
            <a:off x="548640" y="2571750"/>
            <a:ext cx="3840480" cy="457200"/>
          </a:xfrm>
          <a:prstGeom prst="rect">
            <a:avLst/>
          </a:prstGeom>
          <a:noFill/>
          <a:ln/>
        </p:spPr>
        <p:txBody>
          <a:bodyPr wrap="square" lIns="0" tIns="0" rIns="0" bIns="0" rtlCol="0" anchor="t"/>
          <a:lstStyle/>
          <a:p>
            <a:pPr marL="0" indent="0">
              <a:buNone/>
            </a:pPr>
            <a:r>
              <a:rPr lang="en-US" sz="1400" b="1" dirty="0">
                <a:solidFill>
                  <a:schemeClr val="accent1"/>
                </a:solidFill>
              </a:rPr>
              <a:t>Goal:  </a:t>
            </a:r>
            <a:r>
              <a:rPr lang="en-US" sz="1400" dirty="0">
                <a:solidFill>
                  <a:schemeClr val="tx1"/>
                </a:solidFill>
              </a:rPr>
              <a:t>teach an AI agent to land a spacecraft safely</a:t>
            </a:r>
            <a:endParaRPr lang="en-US" sz="1400" dirty="0"/>
          </a:p>
        </p:txBody>
      </p:sp>
      <p:sp>
        <p:nvSpPr>
          <p:cNvPr id="4" name="Text 2"/>
          <p:cNvSpPr txBox="1"/>
          <p:nvPr/>
        </p:nvSpPr>
        <p:spPr>
          <a:xfrm>
            <a:off x="548640" y="3011805"/>
            <a:ext cx="3840480" cy="274320"/>
          </a:xfrm>
          <a:prstGeom prst="rect">
            <a:avLst/>
          </a:prstGeom>
          <a:noFill/>
          <a:ln/>
        </p:spPr>
        <p:txBody>
          <a:bodyPr wrap="square" lIns="0" tIns="0" rIns="0" bIns="0" rtlCol="0" anchor="t"/>
          <a:lstStyle/>
          <a:p>
            <a:pPr marL="0" indent="0">
              <a:buNone/>
            </a:pPr>
            <a:r>
              <a:rPr lang="en-US" sz="1400" b="1" dirty="0">
                <a:solidFill>
                  <a:schemeClr val="accent1"/>
                </a:solidFill>
              </a:rPr>
              <a:t>Method:  </a:t>
            </a:r>
            <a:r>
              <a:rPr lang="en-US" sz="1400" dirty="0">
                <a:solidFill>
                  <a:schemeClr val="tx1"/>
                </a:solidFill>
              </a:rPr>
              <a:t>Deep Q-Network (DQN)</a:t>
            </a:r>
            <a:endParaRPr lang="en-US" sz="1400" dirty="0"/>
          </a:p>
        </p:txBody>
      </p:sp>
      <p:sp>
        <p:nvSpPr>
          <p:cNvPr id="5" name="Text 3"/>
          <p:cNvSpPr txBox="1"/>
          <p:nvPr/>
        </p:nvSpPr>
        <p:spPr>
          <a:xfrm>
            <a:off x="502920" y="3489007"/>
            <a:ext cx="3840480" cy="274320"/>
          </a:xfrm>
          <a:prstGeom prst="rect">
            <a:avLst/>
          </a:prstGeom>
          <a:noFill/>
          <a:ln/>
        </p:spPr>
        <p:txBody>
          <a:bodyPr wrap="square" lIns="0" tIns="0" rIns="0" bIns="0" rtlCol="0" anchor="t"/>
          <a:lstStyle/>
          <a:p>
            <a:pPr marL="0" indent="0">
              <a:buNone/>
            </a:pPr>
            <a:r>
              <a:rPr lang="en-US" sz="1400" b="1" dirty="0">
                <a:solidFill>
                  <a:schemeClr val="accent1"/>
                </a:solidFill>
              </a:rPr>
              <a:t>Built with:  </a:t>
            </a:r>
            <a:r>
              <a:rPr lang="en-US" sz="1400" dirty="0">
                <a:solidFill>
                  <a:schemeClr val="tx1"/>
                </a:solidFill>
              </a:rPr>
              <a:t>Python, PyTorch and Gymnasium</a:t>
            </a:r>
            <a:endParaRPr lang="en-US" sz="1400" dirty="0"/>
          </a:p>
        </p:txBody>
      </p:sp>
      <p:sp>
        <p:nvSpPr>
          <p:cNvPr id="6" name="Text 4"/>
          <p:cNvSpPr txBox="1"/>
          <p:nvPr/>
        </p:nvSpPr>
        <p:spPr>
          <a:xfrm>
            <a:off x="502920" y="3966209"/>
            <a:ext cx="3840480" cy="788671"/>
          </a:xfrm>
          <a:prstGeom prst="rect">
            <a:avLst/>
          </a:prstGeom>
          <a:noFill/>
          <a:ln/>
        </p:spPr>
        <p:txBody>
          <a:bodyPr wrap="square" lIns="0" tIns="0" rIns="0" bIns="0" rtlCol="0" anchor="ctr"/>
          <a:lstStyle/>
          <a:p>
            <a:r>
              <a:rPr lang="en-US" sz="1400" b="1" dirty="0">
                <a:solidFill>
                  <a:schemeClr val="accent1"/>
                </a:solidFill>
              </a:rPr>
              <a:t>Presenters</a:t>
            </a:r>
            <a:r>
              <a:rPr lang="en-US" sz="1200" b="1" dirty="0">
                <a:solidFill>
                  <a:schemeClr val="accent1"/>
                </a:solidFill>
              </a:rPr>
              <a:t> :</a:t>
            </a:r>
            <a:endParaRPr lang="en-US" sz="1200" dirty="0"/>
          </a:p>
          <a:p>
            <a:r>
              <a:rPr lang="en-US" sz="1200" dirty="0"/>
              <a:t>1. Jathin Kumar</a:t>
            </a:r>
            <a:endParaRPr lang="en-US" sz="1200" dirty="0">
              <a:solidFill>
                <a:schemeClr val="tx2"/>
              </a:solidFill>
            </a:endParaRPr>
          </a:p>
          <a:p>
            <a:pPr marL="0" indent="0">
              <a:buNone/>
            </a:pPr>
            <a:r>
              <a:rPr lang="en-US" sz="1200" dirty="0"/>
              <a:t>2. Sreekar</a:t>
            </a:r>
          </a:p>
          <a:p>
            <a:pPr marL="0" indent="0">
              <a:buNone/>
            </a:pPr>
            <a:r>
              <a:rPr lang="en-US" sz="1200" dirty="0"/>
              <a:t>3. </a:t>
            </a:r>
            <a:r>
              <a:rPr lang="en-US" sz="1200" dirty="0" err="1"/>
              <a:t>Hareeshwar</a:t>
            </a:r>
            <a:endParaRPr lang="en-US" sz="1200" dirty="0"/>
          </a:p>
        </p:txBody>
      </p:sp>
      <p:pic>
        <p:nvPicPr>
          <p:cNvPr id="7" name="Image 0" descr="The trained lander coming down in the simulator"/>
          <p:cNvPicPr>
            <a:picLocks noChangeAspect="1"/>
          </p:cNvPicPr>
          <p:nvPr/>
        </p:nvPicPr>
        <p:blipFill>
          <a:blip r:embed="rId3"/>
          <a:stretch>
            <a:fillRect/>
          </a:stretch>
        </p:blipFill>
        <p:spPr>
          <a:xfrm>
            <a:off x="4572000" y="1097280"/>
            <a:ext cx="4114800" cy="2743200"/>
          </a:xfrm>
          <a:prstGeom prst="rect">
            <a:avLst/>
          </a:prstGeom>
        </p:spPr>
      </p:pic>
      <p:sp>
        <p:nvSpPr>
          <p:cNvPr id="8" name="Text 5"/>
          <p:cNvSpPr txBox="1"/>
          <p:nvPr/>
        </p:nvSpPr>
        <p:spPr>
          <a:xfrm>
            <a:off x="4572000" y="3913632"/>
            <a:ext cx="4114800" cy="228600"/>
          </a:xfrm>
          <a:prstGeom prst="rect">
            <a:avLst/>
          </a:prstGeom>
          <a:noFill/>
          <a:ln/>
        </p:spPr>
        <p:txBody>
          <a:bodyPr wrap="square" lIns="0" tIns="0" rIns="0" bIns="0" rtlCol="0" anchor="ctr"/>
          <a:lstStyle/>
          <a:p>
            <a:pPr marL="0" indent="0">
              <a:buNone/>
            </a:pPr>
            <a:r>
              <a:rPr lang="en-US" sz="1100" dirty="0">
                <a:solidFill>
                  <a:schemeClr val="tx2"/>
                </a:solidFill>
              </a:rPr>
              <a:t>The trained agent coming in to land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400" b="1" dirty="0">
                <a:solidFill>
                  <a:schemeClr val="tx1"/>
                </a:solidFill>
              </a:rPr>
              <a:t>How Does the Agent Learn?</a:t>
            </a:r>
            <a:endParaRPr lang="en-US" sz="3400" dirty="0"/>
          </a:p>
        </p:txBody>
      </p:sp>
      <p:sp>
        <p:nvSpPr>
          <p:cNvPr id="3" name="State"/>
          <p:cNvSpPr/>
          <p:nvPr/>
        </p:nvSpPr>
        <p:spPr>
          <a:xfrm>
            <a:off x="548640" y="1188720"/>
            <a:ext cx="1280160" cy="640080"/>
          </a:xfrm>
          <a:prstGeom prst="rect">
            <a:avLst/>
          </a:prstGeom>
          <a:solidFill>
            <a:schemeClr val="bg2"/>
          </a:solidFill>
          <a:ln w="12700">
            <a:solidFill>
              <a:schemeClr val="accent1"/>
            </a:solidFill>
            <a:prstDash val="solid"/>
          </a:ln>
        </p:spPr>
      </p:sp>
      <p:sp>
        <p:nvSpPr>
          <p:cNvPr id="4" name="Text 2"/>
          <p:cNvSpPr txBox="1"/>
          <p:nvPr/>
        </p:nvSpPr>
        <p:spPr>
          <a:xfrm>
            <a:off x="548640" y="118872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State</a:t>
            </a:r>
            <a:endParaRPr lang="en-US" sz="1400" dirty="0"/>
          </a:p>
        </p:txBody>
      </p:sp>
      <p:sp>
        <p:nvSpPr>
          <p:cNvPr id="5" name="AI agent"/>
          <p:cNvSpPr/>
          <p:nvPr/>
        </p:nvSpPr>
        <p:spPr>
          <a:xfrm>
            <a:off x="2148840" y="1188720"/>
            <a:ext cx="1280160" cy="640080"/>
          </a:xfrm>
          <a:prstGeom prst="rect">
            <a:avLst/>
          </a:prstGeom>
          <a:solidFill>
            <a:schemeClr val="bg2"/>
          </a:solidFill>
          <a:ln w="12700">
            <a:solidFill>
              <a:schemeClr val="accent1"/>
            </a:solidFill>
            <a:prstDash val="solid"/>
          </a:ln>
        </p:spPr>
      </p:sp>
      <p:sp>
        <p:nvSpPr>
          <p:cNvPr id="6" name="Text 4"/>
          <p:cNvSpPr txBox="1"/>
          <p:nvPr/>
        </p:nvSpPr>
        <p:spPr>
          <a:xfrm>
            <a:off x="2148840" y="118872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AI agent</a:t>
            </a:r>
            <a:endParaRPr lang="en-US" sz="1400" dirty="0"/>
          </a:p>
        </p:txBody>
      </p:sp>
      <p:sp>
        <p:nvSpPr>
          <p:cNvPr id="7" name="Action"/>
          <p:cNvSpPr/>
          <p:nvPr/>
        </p:nvSpPr>
        <p:spPr>
          <a:xfrm>
            <a:off x="3749040" y="1188720"/>
            <a:ext cx="1280160" cy="640080"/>
          </a:xfrm>
          <a:prstGeom prst="rect">
            <a:avLst/>
          </a:prstGeom>
          <a:solidFill>
            <a:schemeClr val="bg2"/>
          </a:solidFill>
          <a:ln w="12700">
            <a:solidFill>
              <a:schemeClr val="accent1"/>
            </a:solidFill>
            <a:prstDash val="solid"/>
          </a:ln>
        </p:spPr>
      </p:sp>
      <p:sp>
        <p:nvSpPr>
          <p:cNvPr id="8" name="Text 6"/>
          <p:cNvSpPr txBox="1"/>
          <p:nvPr/>
        </p:nvSpPr>
        <p:spPr>
          <a:xfrm>
            <a:off x="3749040" y="118872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Action</a:t>
            </a:r>
            <a:endParaRPr lang="en-US" sz="1400" dirty="0"/>
          </a:p>
        </p:txBody>
      </p:sp>
      <p:sp>
        <p:nvSpPr>
          <p:cNvPr id="9" name="Environment"/>
          <p:cNvSpPr/>
          <p:nvPr/>
        </p:nvSpPr>
        <p:spPr>
          <a:xfrm>
            <a:off x="5349240" y="1188720"/>
            <a:ext cx="1280160" cy="640080"/>
          </a:xfrm>
          <a:prstGeom prst="rect">
            <a:avLst/>
          </a:prstGeom>
          <a:solidFill>
            <a:schemeClr val="bg2"/>
          </a:solidFill>
          <a:ln w="12700">
            <a:solidFill>
              <a:schemeClr val="accent3"/>
            </a:solidFill>
            <a:prstDash val="solid"/>
          </a:ln>
        </p:spPr>
      </p:sp>
      <p:sp>
        <p:nvSpPr>
          <p:cNvPr id="10" name="Text 8"/>
          <p:cNvSpPr txBox="1"/>
          <p:nvPr/>
        </p:nvSpPr>
        <p:spPr>
          <a:xfrm>
            <a:off x="5349240" y="118872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Environment</a:t>
            </a:r>
            <a:endParaRPr lang="en-US" sz="1400" dirty="0"/>
          </a:p>
        </p:txBody>
      </p:sp>
      <p:sp>
        <p:nvSpPr>
          <p:cNvPr id="11" name="Reward"/>
          <p:cNvSpPr/>
          <p:nvPr/>
        </p:nvSpPr>
        <p:spPr>
          <a:xfrm>
            <a:off x="5349240" y="2514600"/>
            <a:ext cx="1280160" cy="640080"/>
          </a:xfrm>
          <a:prstGeom prst="rect">
            <a:avLst/>
          </a:prstGeom>
          <a:solidFill>
            <a:schemeClr val="bg2"/>
          </a:solidFill>
          <a:ln w="12700">
            <a:solidFill>
              <a:schemeClr val="accent2"/>
            </a:solidFill>
            <a:prstDash val="solid"/>
          </a:ln>
        </p:spPr>
      </p:sp>
      <p:sp>
        <p:nvSpPr>
          <p:cNvPr id="12" name="Text 10"/>
          <p:cNvSpPr txBox="1"/>
          <p:nvPr/>
        </p:nvSpPr>
        <p:spPr>
          <a:xfrm>
            <a:off x="5349240" y="251460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Reward</a:t>
            </a:r>
            <a:endParaRPr lang="en-US" sz="1400" dirty="0"/>
          </a:p>
        </p:txBody>
      </p:sp>
      <p:sp>
        <p:nvSpPr>
          <p:cNvPr id="13" name="Learning"/>
          <p:cNvSpPr/>
          <p:nvPr/>
        </p:nvSpPr>
        <p:spPr>
          <a:xfrm>
            <a:off x="2148840" y="2514600"/>
            <a:ext cx="1280160" cy="640080"/>
          </a:xfrm>
          <a:prstGeom prst="rect">
            <a:avLst/>
          </a:prstGeom>
          <a:solidFill>
            <a:schemeClr val="bg2"/>
          </a:solidFill>
          <a:ln w="12700">
            <a:solidFill>
              <a:schemeClr val="accent2"/>
            </a:solidFill>
            <a:prstDash val="solid"/>
          </a:ln>
        </p:spPr>
      </p:sp>
      <p:sp>
        <p:nvSpPr>
          <p:cNvPr id="14" name="Text 12"/>
          <p:cNvSpPr txBox="1"/>
          <p:nvPr/>
        </p:nvSpPr>
        <p:spPr>
          <a:xfrm>
            <a:off x="2148840" y="2514600"/>
            <a:ext cx="1280160" cy="640080"/>
          </a:xfrm>
          <a:prstGeom prst="rect">
            <a:avLst/>
          </a:prstGeom>
          <a:noFill/>
          <a:ln/>
        </p:spPr>
        <p:txBody>
          <a:bodyPr wrap="square" lIns="0" tIns="0" rIns="0" bIns="0" rtlCol="0" anchor="ctr"/>
          <a:lstStyle/>
          <a:p>
            <a:pPr marL="0" indent="0" algn="ctr">
              <a:buNone/>
            </a:pPr>
            <a:r>
              <a:rPr lang="en-US" sz="1400" b="1" dirty="0">
                <a:solidFill>
                  <a:schemeClr val="tx1"/>
                </a:solidFill>
              </a:rPr>
              <a:t>Learning</a:t>
            </a:r>
            <a:endParaRPr lang="en-US" sz="1400" dirty="0"/>
          </a:p>
        </p:txBody>
      </p:sp>
      <p:sp>
        <p:nvSpPr>
          <p:cNvPr id="15" name="Shape 13"/>
          <p:cNvSpPr/>
          <p:nvPr/>
        </p:nvSpPr>
        <p:spPr>
          <a:xfrm>
            <a:off x="1865376" y="1508760"/>
            <a:ext cx="246888" cy="0"/>
          </a:xfrm>
          <a:prstGeom prst="line">
            <a:avLst/>
          </a:prstGeom>
          <a:noFill/>
          <a:ln w="15875">
            <a:solidFill>
              <a:schemeClr val="accent1"/>
            </a:solidFill>
            <a:prstDash val="solid"/>
            <a:tailEnd type="triangle"/>
          </a:ln>
        </p:spPr>
      </p:sp>
      <p:sp>
        <p:nvSpPr>
          <p:cNvPr id="16" name="Shape 14"/>
          <p:cNvSpPr/>
          <p:nvPr/>
        </p:nvSpPr>
        <p:spPr>
          <a:xfrm>
            <a:off x="3465576" y="1508760"/>
            <a:ext cx="246888" cy="0"/>
          </a:xfrm>
          <a:prstGeom prst="line">
            <a:avLst/>
          </a:prstGeom>
          <a:noFill/>
          <a:ln w="15875">
            <a:solidFill>
              <a:schemeClr val="accent1"/>
            </a:solidFill>
            <a:prstDash val="solid"/>
            <a:tailEnd type="triangle"/>
          </a:ln>
        </p:spPr>
      </p:sp>
      <p:sp>
        <p:nvSpPr>
          <p:cNvPr id="17" name="Shape 15"/>
          <p:cNvSpPr/>
          <p:nvPr/>
        </p:nvSpPr>
        <p:spPr>
          <a:xfrm>
            <a:off x="5065776" y="1508760"/>
            <a:ext cx="246888" cy="0"/>
          </a:xfrm>
          <a:prstGeom prst="line">
            <a:avLst/>
          </a:prstGeom>
          <a:noFill/>
          <a:ln w="15875">
            <a:solidFill>
              <a:schemeClr val="accent1"/>
            </a:solidFill>
            <a:prstDash val="solid"/>
            <a:tailEnd type="triangle"/>
          </a:ln>
        </p:spPr>
      </p:sp>
      <p:sp>
        <p:nvSpPr>
          <p:cNvPr id="18" name="Shape 16"/>
          <p:cNvSpPr/>
          <p:nvPr/>
        </p:nvSpPr>
        <p:spPr>
          <a:xfrm>
            <a:off x="5989320" y="1856232"/>
            <a:ext cx="0" cy="630936"/>
          </a:xfrm>
          <a:prstGeom prst="line">
            <a:avLst/>
          </a:prstGeom>
          <a:noFill/>
          <a:ln w="15875">
            <a:solidFill>
              <a:schemeClr val="accent2"/>
            </a:solidFill>
            <a:prstDash val="solid"/>
            <a:tailEnd type="triangle"/>
          </a:ln>
        </p:spPr>
      </p:sp>
      <p:sp>
        <p:nvSpPr>
          <p:cNvPr id="19" name="Shape 17"/>
          <p:cNvSpPr/>
          <p:nvPr/>
        </p:nvSpPr>
        <p:spPr>
          <a:xfrm flipH="1">
            <a:off x="3465576" y="2834640"/>
            <a:ext cx="1847088" cy="0"/>
          </a:xfrm>
          <a:prstGeom prst="line">
            <a:avLst/>
          </a:prstGeom>
          <a:noFill/>
          <a:ln w="15875">
            <a:solidFill>
              <a:schemeClr val="accent2"/>
            </a:solidFill>
            <a:prstDash val="solid"/>
            <a:tailEnd type="triangle"/>
          </a:ln>
        </p:spPr>
      </p:sp>
      <p:sp>
        <p:nvSpPr>
          <p:cNvPr id="20" name="Shape 18"/>
          <p:cNvSpPr/>
          <p:nvPr/>
        </p:nvSpPr>
        <p:spPr>
          <a:xfrm flipV="1">
            <a:off x="2788920" y="1856232"/>
            <a:ext cx="0" cy="630936"/>
          </a:xfrm>
          <a:prstGeom prst="line">
            <a:avLst/>
          </a:prstGeom>
          <a:noFill/>
          <a:ln w="15875">
            <a:solidFill>
              <a:schemeClr val="accent2"/>
            </a:solidFill>
            <a:prstDash val="solid"/>
            <a:tailEnd type="triangle"/>
          </a:ln>
        </p:spPr>
      </p:sp>
      <p:sp>
        <p:nvSpPr>
          <p:cNvPr id="21" name="Text 19"/>
          <p:cNvSpPr txBox="1"/>
          <p:nvPr/>
        </p:nvSpPr>
        <p:spPr>
          <a:xfrm>
            <a:off x="548640" y="2697480"/>
            <a:ext cx="1463040" cy="457200"/>
          </a:xfrm>
          <a:prstGeom prst="rect">
            <a:avLst/>
          </a:prstGeom>
          <a:noFill/>
          <a:ln/>
        </p:spPr>
        <p:txBody>
          <a:bodyPr wrap="square" lIns="0" tIns="0" rIns="0" bIns="0" rtlCol="0" anchor="ctr"/>
          <a:lstStyle/>
          <a:p>
            <a:pPr marL="0" indent="0">
              <a:buNone/>
            </a:pPr>
            <a:r>
              <a:rPr lang="en-US" sz="1100" i="1" dirty="0">
                <a:solidFill>
                  <a:schemeClr val="tx2"/>
                </a:solidFill>
              </a:rPr>
              <a:t>then it tries again, a bit better</a:t>
            </a:r>
            <a:endParaRPr lang="en-US" sz="1100" dirty="0"/>
          </a:p>
        </p:txBody>
      </p:sp>
      <p:pic>
        <p:nvPicPr>
          <p:cNvPr id="22" name="Image 0" descr="Lander near the ground"/>
          <p:cNvPicPr>
            <a:picLocks noChangeAspect="1"/>
          </p:cNvPicPr>
          <p:nvPr/>
        </p:nvPicPr>
        <p:blipFill>
          <a:blip r:embed="rId3"/>
          <a:stretch>
            <a:fillRect/>
          </a:stretch>
        </p:blipFill>
        <p:spPr>
          <a:xfrm>
            <a:off x="6903720" y="1188720"/>
            <a:ext cx="1783080" cy="1188720"/>
          </a:xfrm>
          <a:prstGeom prst="rect">
            <a:avLst/>
          </a:prstGeom>
        </p:spPr>
      </p:pic>
      <p:sp>
        <p:nvSpPr>
          <p:cNvPr id="23" name="Text 20"/>
          <p:cNvSpPr txBox="1"/>
          <p:nvPr/>
        </p:nvSpPr>
        <p:spPr>
          <a:xfrm>
            <a:off x="6903720" y="2423160"/>
            <a:ext cx="1783080" cy="228600"/>
          </a:xfrm>
          <a:prstGeom prst="rect">
            <a:avLst/>
          </a:prstGeom>
          <a:noFill/>
          <a:ln/>
        </p:spPr>
        <p:txBody>
          <a:bodyPr wrap="square" lIns="0" tIns="0" rIns="0" bIns="0" rtlCol="0" anchor="ctr"/>
          <a:lstStyle/>
          <a:p>
            <a:pPr marL="0" indent="0">
              <a:buNone/>
            </a:pPr>
            <a:r>
              <a:rPr lang="en-US" sz="1000" dirty="0">
                <a:solidFill>
                  <a:schemeClr val="tx2"/>
                </a:solidFill>
              </a:rPr>
              <a:t>the lander, close to the pad</a:t>
            </a:r>
            <a:endParaRPr lang="en-US" sz="1000" dirty="0"/>
          </a:p>
        </p:txBody>
      </p:sp>
      <p:sp>
        <p:nvSpPr>
          <p:cNvPr id="24" name="Text 21"/>
          <p:cNvSpPr txBox="1"/>
          <p:nvPr/>
        </p:nvSpPr>
        <p:spPr>
          <a:xfrm>
            <a:off x="548640" y="3520440"/>
            <a:ext cx="8138160" cy="1280160"/>
          </a:xfrm>
          <a:prstGeom prst="rect">
            <a:avLst/>
          </a:prstGeom>
          <a:noFill/>
          <a:ln/>
        </p:spPr>
        <p:txBody>
          <a:bodyPr wrap="square" lIns="0" tIns="0" rIns="0" bIns="0" rtlCol="0" anchor="t"/>
          <a:lstStyle/>
          <a:p>
            <a:pPr marL="0" indent="0">
              <a:spcAft>
                <a:spcPts val="500"/>
              </a:spcAft>
              <a:buNone/>
            </a:pPr>
            <a:r>
              <a:rPr lang="en-US" sz="1400" b="1" dirty="0">
                <a:solidFill>
                  <a:schemeClr val="accent1"/>
                </a:solidFill>
              </a:rPr>
              <a:t>State</a:t>
            </a:r>
            <a:r>
              <a:rPr lang="en-US" sz="1400" dirty="0">
                <a:solidFill>
                  <a:schemeClr val="tx1"/>
                </a:solidFill>
              </a:rPr>
              <a:t> – what the lander sees: position, speed, angle, legs</a:t>
            </a:r>
            <a:endParaRPr lang="en-US" sz="1400" dirty="0"/>
          </a:p>
          <a:p>
            <a:pPr marL="0" indent="0">
              <a:spcAft>
                <a:spcPts val="500"/>
              </a:spcAft>
              <a:buNone/>
            </a:pPr>
            <a:r>
              <a:rPr lang="en-US" sz="1400" b="1" dirty="0">
                <a:solidFill>
                  <a:schemeClr val="accent1"/>
                </a:solidFill>
              </a:rPr>
              <a:t>Action</a:t>
            </a:r>
            <a:r>
              <a:rPr lang="en-US" sz="1400" dirty="0">
                <a:solidFill>
                  <a:schemeClr val="tx1"/>
                </a:solidFill>
              </a:rPr>
              <a:t> – one of 4 choices: do nothing, left, main or right engine</a:t>
            </a:r>
            <a:endParaRPr lang="en-US" sz="1400" dirty="0"/>
          </a:p>
          <a:p>
            <a:pPr marL="0" indent="0">
              <a:spcAft>
                <a:spcPts val="500"/>
              </a:spcAft>
              <a:buNone/>
            </a:pPr>
            <a:r>
              <a:rPr lang="en-US" sz="1400" b="1" dirty="0">
                <a:solidFill>
                  <a:schemeClr val="accent2"/>
                </a:solidFill>
              </a:rPr>
              <a:t>Reward</a:t>
            </a:r>
            <a:r>
              <a:rPr lang="en-US" sz="1400" dirty="0">
                <a:solidFill>
                  <a:schemeClr val="tx1"/>
                </a:solidFill>
              </a:rPr>
              <a:t> – a score for each move: good landing up, crash down</a:t>
            </a:r>
            <a:endParaRPr lang="en-US" sz="1400" dirty="0"/>
          </a:p>
          <a:p>
            <a:pPr marL="0" indent="0">
              <a:spcAft>
                <a:spcPts val="500"/>
              </a:spcAft>
              <a:buNone/>
            </a:pPr>
            <a:r>
              <a:rPr lang="en-US" sz="1400" b="1" dirty="0">
                <a:solidFill>
                  <a:schemeClr val="accent2"/>
                </a:solidFill>
              </a:rPr>
              <a:t>DQN</a:t>
            </a:r>
            <a:r>
              <a:rPr lang="en-US" sz="1400" dirty="0">
                <a:solidFill>
                  <a:schemeClr val="tx1"/>
                </a:solidFill>
              </a:rPr>
              <a:t> – a neural network that guesses how good each action 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400" b="1" dirty="0">
                <a:solidFill>
                  <a:schemeClr val="tx1"/>
                </a:solidFill>
              </a:rPr>
              <a:t>Project Architecture</a:t>
            </a:r>
            <a:endParaRPr lang="en-US" sz="3400" dirty="0"/>
          </a:p>
        </p:txBody>
      </p:sp>
      <p:sp>
        <p:nvSpPr>
          <p:cNvPr id="3" name="Text 1"/>
          <p:cNvSpPr txBox="1"/>
          <p:nvPr/>
        </p:nvSpPr>
        <p:spPr>
          <a:xfrm>
            <a:off x="457200" y="1280160"/>
            <a:ext cx="2011680" cy="274320"/>
          </a:xfrm>
          <a:prstGeom prst="rect">
            <a:avLst/>
          </a:prstGeom>
          <a:noFill/>
          <a:ln/>
        </p:spPr>
        <p:txBody>
          <a:bodyPr wrap="square" lIns="0" tIns="0" rIns="0" bIns="0" rtlCol="0" anchor="ctr"/>
          <a:lstStyle/>
          <a:p>
            <a:pPr marL="0" indent="0">
              <a:buNone/>
            </a:pPr>
            <a:r>
              <a:rPr lang="en-US" sz="1200" i="1" dirty="0">
                <a:solidFill>
                  <a:schemeClr val="tx2"/>
                </a:solidFill>
              </a:rPr>
              <a:t>While training</a:t>
            </a:r>
            <a:endParaRPr lang="en-US" sz="1200" dirty="0"/>
          </a:p>
        </p:txBody>
      </p:sp>
      <p:sp>
        <p:nvSpPr>
          <p:cNvPr id="4" name="Training Script"/>
          <p:cNvSpPr/>
          <p:nvPr/>
        </p:nvSpPr>
        <p:spPr>
          <a:xfrm>
            <a:off x="3566160" y="1097280"/>
            <a:ext cx="2011680" cy="658368"/>
          </a:xfrm>
          <a:prstGeom prst="rect">
            <a:avLst/>
          </a:prstGeom>
          <a:solidFill>
            <a:schemeClr val="bg2"/>
          </a:solidFill>
          <a:ln w="12700">
            <a:solidFill>
              <a:schemeClr val="tx2"/>
            </a:solidFill>
            <a:prstDash val="solid"/>
          </a:ln>
        </p:spPr>
      </p:sp>
      <p:sp>
        <p:nvSpPr>
          <p:cNvPr id="5" name="Text 3"/>
          <p:cNvSpPr txBox="1"/>
          <p:nvPr/>
        </p:nvSpPr>
        <p:spPr>
          <a:xfrm>
            <a:off x="3611880" y="109728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train.py</a:t>
            </a:r>
            <a:endParaRPr lang="en-US" sz="1400" dirty="0"/>
          </a:p>
          <a:p>
            <a:pPr marL="0" indent="0" algn="ctr">
              <a:buNone/>
            </a:pPr>
            <a:r>
              <a:rPr lang="en-US" sz="1100" dirty="0">
                <a:solidFill>
                  <a:schemeClr val="tx2"/>
                </a:solidFill>
              </a:rPr>
              <a:t>runs the training</a:t>
            </a:r>
            <a:endParaRPr lang="en-US" sz="1400" dirty="0"/>
          </a:p>
        </p:txBody>
      </p:sp>
      <p:sp>
        <p:nvSpPr>
          <p:cNvPr id="6" name="Environment"/>
          <p:cNvSpPr/>
          <p:nvPr/>
        </p:nvSpPr>
        <p:spPr>
          <a:xfrm>
            <a:off x="457200" y="2057400"/>
            <a:ext cx="2011680" cy="658368"/>
          </a:xfrm>
          <a:prstGeom prst="rect">
            <a:avLst/>
          </a:prstGeom>
          <a:solidFill>
            <a:schemeClr val="bg2"/>
          </a:solidFill>
          <a:ln w="12700">
            <a:solidFill>
              <a:schemeClr val="accent3"/>
            </a:solidFill>
            <a:prstDash val="solid"/>
          </a:ln>
        </p:spPr>
      </p:sp>
      <p:sp>
        <p:nvSpPr>
          <p:cNvPr id="7" name="Text 5"/>
          <p:cNvSpPr txBox="1"/>
          <p:nvPr/>
        </p:nvSpPr>
        <p:spPr>
          <a:xfrm>
            <a:off x="502920" y="205740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Environment</a:t>
            </a:r>
            <a:endParaRPr lang="en-US" sz="1400" dirty="0"/>
          </a:p>
          <a:p>
            <a:pPr marL="0" indent="0" algn="ctr">
              <a:buNone/>
            </a:pPr>
            <a:r>
              <a:rPr lang="en-US" sz="1100" dirty="0">
                <a:solidFill>
                  <a:schemeClr val="tx2"/>
                </a:solidFill>
              </a:rPr>
              <a:t>LunarLander game</a:t>
            </a:r>
            <a:endParaRPr lang="en-US" sz="1400" dirty="0"/>
          </a:p>
        </p:txBody>
      </p:sp>
      <p:sp>
        <p:nvSpPr>
          <p:cNvPr id="8" name="Agent"/>
          <p:cNvSpPr/>
          <p:nvPr/>
        </p:nvSpPr>
        <p:spPr>
          <a:xfrm>
            <a:off x="3566160" y="2057400"/>
            <a:ext cx="2011680" cy="658368"/>
          </a:xfrm>
          <a:prstGeom prst="rect">
            <a:avLst/>
          </a:prstGeom>
          <a:solidFill>
            <a:schemeClr val="bg2"/>
          </a:solidFill>
          <a:ln w="12700">
            <a:solidFill>
              <a:schemeClr val="accent1"/>
            </a:solidFill>
            <a:prstDash val="solid"/>
          </a:ln>
        </p:spPr>
      </p:sp>
      <p:sp>
        <p:nvSpPr>
          <p:cNvPr id="9" name="Text 7"/>
          <p:cNvSpPr txBox="1"/>
          <p:nvPr/>
        </p:nvSpPr>
        <p:spPr>
          <a:xfrm>
            <a:off x="3611880" y="205740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agent.py</a:t>
            </a:r>
            <a:endParaRPr lang="en-US" sz="1400" dirty="0"/>
          </a:p>
          <a:p>
            <a:pPr marL="0" indent="0" algn="ctr">
              <a:buNone/>
            </a:pPr>
            <a:r>
              <a:rPr lang="en-US" sz="1100" dirty="0">
                <a:solidFill>
                  <a:schemeClr val="tx2"/>
                </a:solidFill>
              </a:rPr>
              <a:t>picks actions, learns</a:t>
            </a:r>
            <a:endParaRPr lang="en-US" sz="1400" dirty="0"/>
          </a:p>
        </p:txBody>
      </p:sp>
      <p:sp>
        <p:nvSpPr>
          <p:cNvPr id="10" name="Neural Network"/>
          <p:cNvSpPr/>
          <p:nvPr/>
        </p:nvSpPr>
        <p:spPr>
          <a:xfrm>
            <a:off x="6675120" y="2057400"/>
            <a:ext cx="2011680" cy="658368"/>
          </a:xfrm>
          <a:prstGeom prst="rect">
            <a:avLst/>
          </a:prstGeom>
          <a:solidFill>
            <a:schemeClr val="bg2"/>
          </a:solidFill>
          <a:ln w="12700">
            <a:solidFill>
              <a:schemeClr val="accent1"/>
            </a:solidFill>
            <a:prstDash val="solid"/>
          </a:ln>
        </p:spPr>
      </p:sp>
      <p:sp>
        <p:nvSpPr>
          <p:cNvPr id="11" name="Text 9"/>
          <p:cNvSpPr txBox="1"/>
          <p:nvPr/>
        </p:nvSpPr>
        <p:spPr>
          <a:xfrm>
            <a:off x="6720840" y="205740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network.py</a:t>
            </a:r>
            <a:endParaRPr lang="en-US" sz="1400" dirty="0"/>
          </a:p>
          <a:p>
            <a:pPr marL="0" indent="0" algn="ctr">
              <a:buNone/>
            </a:pPr>
            <a:r>
              <a:rPr lang="en-US" sz="1100" dirty="0">
                <a:solidFill>
                  <a:schemeClr val="tx2"/>
                </a:solidFill>
              </a:rPr>
              <a:t>predicts Q-values</a:t>
            </a:r>
            <a:endParaRPr lang="en-US" sz="1400" dirty="0"/>
          </a:p>
        </p:txBody>
      </p:sp>
      <p:sp>
        <p:nvSpPr>
          <p:cNvPr id="12" name="Replay Memory"/>
          <p:cNvSpPr/>
          <p:nvPr/>
        </p:nvSpPr>
        <p:spPr>
          <a:xfrm>
            <a:off x="3566160" y="3017520"/>
            <a:ext cx="2011680" cy="658368"/>
          </a:xfrm>
          <a:prstGeom prst="rect">
            <a:avLst/>
          </a:prstGeom>
          <a:solidFill>
            <a:schemeClr val="bg2"/>
          </a:solidFill>
          <a:ln w="12700">
            <a:solidFill>
              <a:schemeClr val="accent2"/>
            </a:solidFill>
            <a:prstDash val="solid"/>
          </a:ln>
        </p:spPr>
      </p:sp>
      <p:sp>
        <p:nvSpPr>
          <p:cNvPr id="13" name="Text 11"/>
          <p:cNvSpPr txBox="1"/>
          <p:nvPr/>
        </p:nvSpPr>
        <p:spPr>
          <a:xfrm>
            <a:off x="3611880" y="301752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memory.py</a:t>
            </a:r>
            <a:endParaRPr lang="en-US" sz="1400" dirty="0"/>
          </a:p>
          <a:p>
            <a:pPr marL="0" indent="0" algn="ctr">
              <a:buNone/>
            </a:pPr>
            <a:r>
              <a:rPr lang="en-US" sz="1100" dirty="0">
                <a:solidFill>
                  <a:schemeClr val="tx2"/>
                </a:solidFill>
              </a:rPr>
              <a:t>keeps past experiences</a:t>
            </a:r>
            <a:endParaRPr lang="en-US" sz="1400" dirty="0"/>
          </a:p>
        </p:txBody>
      </p:sp>
      <p:sp>
        <p:nvSpPr>
          <p:cNvPr id="14" name="Learning Update"/>
          <p:cNvSpPr/>
          <p:nvPr/>
        </p:nvSpPr>
        <p:spPr>
          <a:xfrm>
            <a:off x="6675120" y="3017520"/>
            <a:ext cx="2011680" cy="658368"/>
          </a:xfrm>
          <a:prstGeom prst="rect">
            <a:avLst/>
          </a:prstGeom>
          <a:solidFill>
            <a:schemeClr val="bg2"/>
          </a:solidFill>
          <a:ln w="12700">
            <a:solidFill>
              <a:schemeClr val="accent2"/>
            </a:solidFill>
            <a:prstDash val="solid"/>
          </a:ln>
        </p:spPr>
      </p:sp>
      <p:sp>
        <p:nvSpPr>
          <p:cNvPr id="15" name="Text 13"/>
          <p:cNvSpPr txBox="1"/>
          <p:nvPr/>
        </p:nvSpPr>
        <p:spPr>
          <a:xfrm>
            <a:off x="6720840" y="301752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Learning update</a:t>
            </a:r>
            <a:endParaRPr lang="en-US" sz="1400" dirty="0"/>
          </a:p>
          <a:p>
            <a:pPr marL="0" indent="0" algn="ctr">
              <a:buNone/>
            </a:pPr>
            <a:r>
              <a:rPr lang="en-US" sz="1100" dirty="0">
                <a:solidFill>
                  <a:schemeClr val="tx2"/>
                </a:solidFill>
              </a:rPr>
              <a:t>trains on a random batch</a:t>
            </a:r>
            <a:endParaRPr lang="en-US" sz="1400" dirty="0"/>
          </a:p>
        </p:txBody>
      </p:sp>
      <p:sp>
        <p:nvSpPr>
          <p:cNvPr id="16" name="Shape 14"/>
          <p:cNvSpPr/>
          <p:nvPr/>
        </p:nvSpPr>
        <p:spPr>
          <a:xfrm>
            <a:off x="4572000" y="1783080"/>
            <a:ext cx="0" cy="246888"/>
          </a:xfrm>
          <a:prstGeom prst="line">
            <a:avLst/>
          </a:prstGeom>
          <a:noFill/>
          <a:ln w="15875">
            <a:solidFill>
              <a:schemeClr val="tx2"/>
            </a:solidFill>
            <a:prstDash val="solid"/>
            <a:tailEnd type="triangle"/>
          </a:ln>
        </p:spPr>
      </p:sp>
      <p:sp>
        <p:nvSpPr>
          <p:cNvPr id="17" name="Text 15"/>
          <p:cNvSpPr txBox="1"/>
          <p:nvPr/>
        </p:nvSpPr>
        <p:spPr>
          <a:xfrm>
            <a:off x="4663440" y="1828800"/>
            <a:ext cx="1005840" cy="201168"/>
          </a:xfrm>
          <a:prstGeom prst="rect">
            <a:avLst/>
          </a:prstGeom>
          <a:noFill/>
          <a:ln/>
        </p:spPr>
        <p:txBody>
          <a:bodyPr wrap="square" lIns="0" tIns="0" rIns="0" bIns="0" rtlCol="0" anchor="ctr"/>
          <a:lstStyle/>
          <a:p>
            <a:pPr marL="0" indent="0">
              <a:buNone/>
            </a:pPr>
            <a:r>
              <a:rPr lang="en-US" sz="1000" dirty="0">
                <a:solidFill>
                  <a:schemeClr val="tx2"/>
                </a:solidFill>
              </a:rPr>
              <a:t>runs episodes</a:t>
            </a:r>
            <a:endParaRPr lang="en-US" sz="1000" dirty="0"/>
          </a:p>
        </p:txBody>
      </p:sp>
      <p:sp>
        <p:nvSpPr>
          <p:cNvPr id="18" name="Shape 16"/>
          <p:cNvSpPr/>
          <p:nvPr/>
        </p:nvSpPr>
        <p:spPr>
          <a:xfrm>
            <a:off x="2505456" y="2386584"/>
            <a:ext cx="1024128" cy="0"/>
          </a:xfrm>
          <a:prstGeom prst="line">
            <a:avLst/>
          </a:prstGeom>
          <a:noFill/>
          <a:ln w="15875">
            <a:solidFill>
              <a:schemeClr val="accent3"/>
            </a:solidFill>
            <a:prstDash val="solid"/>
            <a:headEnd type="triangle"/>
            <a:tailEnd type="triangle"/>
          </a:ln>
        </p:spPr>
      </p:sp>
      <p:sp>
        <p:nvSpPr>
          <p:cNvPr id="19" name="Text 17"/>
          <p:cNvSpPr txBox="1"/>
          <p:nvPr/>
        </p:nvSpPr>
        <p:spPr>
          <a:xfrm>
            <a:off x="2505456" y="2139696"/>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state, reward →</a:t>
            </a:r>
            <a:endParaRPr lang="en-US" sz="1000" dirty="0"/>
          </a:p>
        </p:txBody>
      </p:sp>
      <p:sp>
        <p:nvSpPr>
          <p:cNvPr id="20" name="Text 18"/>
          <p:cNvSpPr txBox="1"/>
          <p:nvPr/>
        </p:nvSpPr>
        <p:spPr>
          <a:xfrm>
            <a:off x="2505456" y="2450592"/>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 action</a:t>
            </a:r>
            <a:endParaRPr lang="en-US" sz="1000" dirty="0"/>
          </a:p>
        </p:txBody>
      </p:sp>
      <p:sp>
        <p:nvSpPr>
          <p:cNvPr id="21" name="Shape 19"/>
          <p:cNvSpPr/>
          <p:nvPr/>
        </p:nvSpPr>
        <p:spPr>
          <a:xfrm>
            <a:off x="5614416" y="2386584"/>
            <a:ext cx="1024128" cy="0"/>
          </a:xfrm>
          <a:prstGeom prst="line">
            <a:avLst/>
          </a:prstGeom>
          <a:noFill/>
          <a:ln w="15875">
            <a:solidFill>
              <a:schemeClr val="accent1"/>
            </a:solidFill>
            <a:prstDash val="solid"/>
            <a:headEnd type="triangle"/>
            <a:tailEnd type="triangle"/>
          </a:ln>
        </p:spPr>
      </p:sp>
      <p:sp>
        <p:nvSpPr>
          <p:cNvPr id="22" name="Text 20"/>
          <p:cNvSpPr txBox="1"/>
          <p:nvPr/>
        </p:nvSpPr>
        <p:spPr>
          <a:xfrm>
            <a:off x="5614416" y="2139696"/>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state →</a:t>
            </a:r>
            <a:endParaRPr lang="en-US" sz="1000" dirty="0"/>
          </a:p>
        </p:txBody>
      </p:sp>
      <p:sp>
        <p:nvSpPr>
          <p:cNvPr id="23" name="Text 21"/>
          <p:cNvSpPr txBox="1"/>
          <p:nvPr/>
        </p:nvSpPr>
        <p:spPr>
          <a:xfrm>
            <a:off x="5614416" y="2450592"/>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 Q-values</a:t>
            </a:r>
            <a:endParaRPr lang="en-US" sz="1000" dirty="0"/>
          </a:p>
        </p:txBody>
      </p:sp>
      <p:sp>
        <p:nvSpPr>
          <p:cNvPr id="24" name="Shape 22"/>
          <p:cNvSpPr/>
          <p:nvPr/>
        </p:nvSpPr>
        <p:spPr>
          <a:xfrm>
            <a:off x="4572000" y="2743200"/>
            <a:ext cx="0" cy="246888"/>
          </a:xfrm>
          <a:prstGeom prst="line">
            <a:avLst/>
          </a:prstGeom>
          <a:noFill/>
          <a:ln w="15875">
            <a:solidFill>
              <a:schemeClr val="accent2"/>
            </a:solidFill>
            <a:prstDash val="solid"/>
            <a:tailEnd type="triangle"/>
          </a:ln>
        </p:spPr>
      </p:sp>
      <p:sp>
        <p:nvSpPr>
          <p:cNvPr id="25" name="Text 23"/>
          <p:cNvSpPr txBox="1"/>
          <p:nvPr/>
        </p:nvSpPr>
        <p:spPr>
          <a:xfrm>
            <a:off x="4663440" y="2788920"/>
            <a:ext cx="914400" cy="201168"/>
          </a:xfrm>
          <a:prstGeom prst="rect">
            <a:avLst/>
          </a:prstGeom>
          <a:noFill/>
          <a:ln/>
        </p:spPr>
        <p:txBody>
          <a:bodyPr wrap="square" lIns="0" tIns="0" rIns="0" bIns="0" rtlCol="0" anchor="ctr"/>
          <a:lstStyle/>
          <a:p>
            <a:pPr marL="0" indent="0">
              <a:buNone/>
            </a:pPr>
            <a:r>
              <a:rPr lang="en-US" sz="1000" dirty="0">
                <a:solidFill>
                  <a:schemeClr val="tx2"/>
                </a:solidFill>
              </a:rPr>
              <a:t>experience</a:t>
            </a:r>
            <a:endParaRPr lang="en-US" sz="1000" dirty="0"/>
          </a:p>
        </p:txBody>
      </p:sp>
      <p:sp>
        <p:nvSpPr>
          <p:cNvPr id="26" name="Shape 24"/>
          <p:cNvSpPr/>
          <p:nvPr/>
        </p:nvSpPr>
        <p:spPr>
          <a:xfrm>
            <a:off x="5614416" y="3346704"/>
            <a:ext cx="1024128" cy="0"/>
          </a:xfrm>
          <a:prstGeom prst="line">
            <a:avLst/>
          </a:prstGeom>
          <a:noFill/>
          <a:ln w="15875">
            <a:solidFill>
              <a:schemeClr val="accent2"/>
            </a:solidFill>
            <a:prstDash val="solid"/>
            <a:tailEnd type="triangle"/>
          </a:ln>
        </p:spPr>
      </p:sp>
      <p:sp>
        <p:nvSpPr>
          <p:cNvPr id="27" name="Text 25"/>
          <p:cNvSpPr txBox="1"/>
          <p:nvPr/>
        </p:nvSpPr>
        <p:spPr>
          <a:xfrm>
            <a:off x="5614416" y="3099816"/>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sample batch</a:t>
            </a:r>
            <a:endParaRPr lang="en-US" sz="1000" dirty="0"/>
          </a:p>
        </p:txBody>
      </p:sp>
      <p:sp>
        <p:nvSpPr>
          <p:cNvPr id="28" name="Shape 26"/>
          <p:cNvSpPr/>
          <p:nvPr/>
        </p:nvSpPr>
        <p:spPr>
          <a:xfrm flipV="1">
            <a:off x="7680960" y="2743200"/>
            <a:ext cx="0" cy="246888"/>
          </a:xfrm>
          <a:prstGeom prst="line">
            <a:avLst/>
          </a:prstGeom>
          <a:noFill/>
          <a:ln w="15875">
            <a:solidFill>
              <a:schemeClr val="accent2"/>
            </a:solidFill>
            <a:prstDash val="solid"/>
            <a:tailEnd type="triangle"/>
          </a:ln>
        </p:spPr>
      </p:sp>
      <p:sp>
        <p:nvSpPr>
          <p:cNvPr id="29" name="Text 27"/>
          <p:cNvSpPr txBox="1"/>
          <p:nvPr/>
        </p:nvSpPr>
        <p:spPr>
          <a:xfrm>
            <a:off x="7772400" y="2788920"/>
            <a:ext cx="914400" cy="201168"/>
          </a:xfrm>
          <a:prstGeom prst="rect">
            <a:avLst/>
          </a:prstGeom>
          <a:noFill/>
          <a:ln/>
        </p:spPr>
        <p:txBody>
          <a:bodyPr wrap="square" lIns="0" tIns="0" rIns="0" bIns="0" rtlCol="0" anchor="ctr"/>
          <a:lstStyle/>
          <a:p>
            <a:pPr marL="0" indent="0">
              <a:buNone/>
            </a:pPr>
            <a:r>
              <a:rPr lang="en-US" sz="1000" dirty="0">
                <a:solidFill>
                  <a:schemeClr val="tx2"/>
                </a:solidFill>
              </a:rPr>
              <a:t>update weights</a:t>
            </a:r>
            <a:endParaRPr lang="en-US" sz="1000" dirty="0"/>
          </a:p>
        </p:txBody>
      </p:sp>
      <p:sp>
        <p:nvSpPr>
          <p:cNvPr id="30" name="Shape 28"/>
          <p:cNvSpPr/>
          <p:nvPr/>
        </p:nvSpPr>
        <p:spPr>
          <a:xfrm>
            <a:off x="457200" y="3840480"/>
            <a:ext cx="8229600" cy="0"/>
          </a:xfrm>
          <a:prstGeom prst="line">
            <a:avLst/>
          </a:prstGeom>
          <a:noFill/>
          <a:ln w="12700">
            <a:solidFill>
              <a:schemeClr val="accent5"/>
            </a:solidFill>
            <a:prstDash val="dash"/>
          </a:ln>
        </p:spPr>
      </p:sp>
      <p:sp>
        <p:nvSpPr>
          <p:cNvPr id="31" name="Text 29"/>
          <p:cNvSpPr txBox="1"/>
          <p:nvPr/>
        </p:nvSpPr>
        <p:spPr>
          <a:xfrm>
            <a:off x="457200" y="3904488"/>
            <a:ext cx="2011680" cy="228600"/>
          </a:xfrm>
          <a:prstGeom prst="rect">
            <a:avLst/>
          </a:prstGeom>
          <a:noFill/>
          <a:ln/>
        </p:spPr>
        <p:txBody>
          <a:bodyPr wrap="square" lIns="0" tIns="0" rIns="0" bIns="0" rtlCol="0" anchor="ctr"/>
          <a:lstStyle/>
          <a:p>
            <a:pPr marL="0" indent="0">
              <a:buNone/>
            </a:pPr>
            <a:r>
              <a:rPr lang="en-US" sz="1200" i="1" dirty="0">
                <a:solidFill>
                  <a:schemeClr val="tx2"/>
                </a:solidFill>
              </a:rPr>
              <a:t>After training</a:t>
            </a:r>
            <a:endParaRPr lang="en-US" sz="1200" dirty="0"/>
          </a:p>
        </p:txBody>
      </p:sp>
      <p:sp>
        <p:nvSpPr>
          <p:cNvPr id="32" name="Saved Checkpoint"/>
          <p:cNvSpPr/>
          <p:nvPr/>
        </p:nvSpPr>
        <p:spPr>
          <a:xfrm>
            <a:off x="457200" y="4160520"/>
            <a:ext cx="2011680" cy="658368"/>
          </a:xfrm>
          <a:prstGeom prst="rect">
            <a:avLst/>
          </a:prstGeom>
          <a:solidFill>
            <a:schemeClr val="bg2"/>
          </a:solidFill>
          <a:ln w="12700">
            <a:solidFill>
              <a:schemeClr val="accent4"/>
            </a:solidFill>
            <a:prstDash val="solid"/>
          </a:ln>
        </p:spPr>
      </p:sp>
      <p:sp>
        <p:nvSpPr>
          <p:cNvPr id="33" name="Text 31"/>
          <p:cNvSpPr txBox="1"/>
          <p:nvPr/>
        </p:nvSpPr>
        <p:spPr>
          <a:xfrm>
            <a:off x="502920" y="416052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.pth checkpoint</a:t>
            </a:r>
            <a:endParaRPr lang="en-US" sz="1400" dirty="0"/>
          </a:p>
          <a:p>
            <a:pPr marL="0" indent="0" algn="ctr">
              <a:buNone/>
            </a:pPr>
            <a:r>
              <a:rPr lang="en-US" sz="1100" dirty="0">
                <a:solidFill>
                  <a:schemeClr val="tx2"/>
                </a:solidFill>
              </a:rPr>
              <a:t>saved model weights</a:t>
            </a:r>
            <a:endParaRPr lang="en-US" sz="1400" dirty="0"/>
          </a:p>
        </p:txBody>
      </p:sp>
      <p:sp>
        <p:nvSpPr>
          <p:cNvPr id="34" name="Evaluation Script"/>
          <p:cNvSpPr/>
          <p:nvPr/>
        </p:nvSpPr>
        <p:spPr>
          <a:xfrm>
            <a:off x="3566160" y="4160520"/>
            <a:ext cx="2011680" cy="658368"/>
          </a:xfrm>
          <a:prstGeom prst="rect">
            <a:avLst/>
          </a:prstGeom>
          <a:solidFill>
            <a:schemeClr val="bg2"/>
          </a:solidFill>
          <a:ln w="12700">
            <a:solidFill>
              <a:schemeClr val="tx2"/>
            </a:solidFill>
            <a:prstDash val="solid"/>
          </a:ln>
        </p:spPr>
      </p:sp>
      <p:sp>
        <p:nvSpPr>
          <p:cNvPr id="35" name="Text 33"/>
          <p:cNvSpPr txBox="1"/>
          <p:nvPr/>
        </p:nvSpPr>
        <p:spPr>
          <a:xfrm>
            <a:off x="3611880" y="416052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watch_agent.py</a:t>
            </a:r>
            <a:endParaRPr lang="en-US" sz="1400" dirty="0"/>
          </a:p>
          <a:p>
            <a:pPr marL="0" indent="0" algn="ctr">
              <a:buNone/>
            </a:pPr>
            <a:r>
              <a:rPr lang="en-US" sz="1100" dirty="0">
                <a:solidFill>
                  <a:schemeClr val="tx2"/>
                </a:solidFill>
              </a:rPr>
              <a:t>loads it and runs a demo</a:t>
            </a:r>
            <a:endParaRPr lang="en-US" sz="1400" dirty="0"/>
          </a:p>
        </p:txBody>
      </p:sp>
      <p:sp>
        <p:nvSpPr>
          <p:cNvPr id="36" name="Simulation"/>
          <p:cNvSpPr/>
          <p:nvPr/>
        </p:nvSpPr>
        <p:spPr>
          <a:xfrm>
            <a:off x="6675120" y="4160520"/>
            <a:ext cx="2011680" cy="658368"/>
          </a:xfrm>
          <a:prstGeom prst="rect">
            <a:avLst/>
          </a:prstGeom>
          <a:solidFill>
            <a:schemeClr val="bg2"/>
          </a:solidFill>
          <a:ln w="12700">
            <a:solidFill>
              <a:schemeClr val="accent3"/>
            </a:solidFill>
            <a:prstDash val="solid"/>
          </a:ln>
        </p:spPr>
      </p:sp>
      <p:sp>
        <p:nvSpPr>
          <p:cNvPr id="37" name="Text 35"/>
          <p:cNvSpPr txBox="1"/>
          <p:nvPr/>
        </p:nvSpPr>
        <p:spPr>
          <a:xfrm>
            <a:off x="6720840" y="4160520"/>
            <a:ext cx="1920240" cy="658368"/>
          </a:xfrm>
          <a:prstGeom prst="rect">
            <a:avLst/>
          </a:prstGeom>
          <a:noFill/>
          <a:ln/>
        </p:spPr>
        <p:txBody>
          <a:bodyPr wrap="square" lIns="25400" tIns="25400" rIns="25400" bIns="25400" rtlCol="0" anchor="ctr"/>
          <a:lstStyle/>
          <a:p>
            <a:pPr marL="0" indent="0" algn="ctr">
              <a:buNone/>
            </a:pPr>
            <a:r>
              <a:rPr lang="en-US" sz="1400" b="1" dirty="0">
                <a:solidFill>
                  <a:schemeClr val="tx1"/>
                </a:solidFill>
              </a:rPr>
              <a:t>LunarLander</a:t>
            </a:r>
            <a:endParaRPr lang="en-US" sz="1400" dirty="0"/>
          </a:p>
          <a:p>
            <a:pPr marL="0" indent="0" algn="ctr">
              <a:buNone/>
            </a:pPr>
            <a:r>
              <a:rPr lang="en-US" sz="1100" dirty="0">
                <a:solidFill>
                  <a:schemeClr val="tx2"/>
                </a:solidFill>
              </a:rPr>
              <a:t>shows the trained agent</a:t>
            </a:r>
            <a:endParaRPr lang="en-US" sz="1400" dirty="0"/>
          </a:p>
        </p:txBody>
      </p:sp>
      <p:sp>
        <p:nvSpPr>
          <p:cNvPr id="38" name="Shape 36"/>
          <p:cNvSpPr/>
          <p:nvPr/>
        </p:nvSpPr>
        <p:spPr>
          <a:xfrm>
            <a:off x="2505456" y="4489704"/>
            <a:ext cx="1024128" cy="0"/>
          </a:xfrm>
          <a:prstGeom prst="line">
            <a:avLst/>
          </a:prstGeom>
          <a:noFill/>
          <a:ln w="15875">
            <a:solidFill>
              <a:schemeClr val="accent4"/>
            </a:solidFill>
            <a:prstDash val="solid"/>
            <a:tailEnd type="triangle"/>
          </a:ln>
        </p:spPr>
      </p:sp>
      <p:sp>
        <p:nvSpPr>
          <p:cNvPr id="39" name="Text 37"/>
          <p:cNvSpPr txBox="1"/>
          <p:nvPr/>
        </p:nvSpPr>
        <p:spPr>
          <a:xfrm>
            <a:off x="2505456" y="4242816"/>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load</a:t>
            </a:r>
            <a:endParaRPr lang="en-US" sz="1000" dirty="0"/>
          </a:p>
        </p:txBody>
      </p:sp>
      <p:sp>
        <p:nvSpPr>
          <p:cNvPr id="40" name="Shape 38"/>
          <p:cNvSpPr/>
          <p:nvPr/>
        </p:nvSpPr>
        <p:spPr>
          <a:xfrm>
            <a:off x="5614416" y="4489704"/>
            <a:ext cx="1024128" cy="0"/>
          </a:xfrm>
          <a:prstGeom prst="line">
            <a:avLst/>
          </a:prstGeom>
          <a:noFill/>
          <a:ln w="15875">
            <a:solidFill>
              <a:schemeClr val="accent3"/>
            </a:solidFill>
            <a:prstDash val="solid"/>
            <a:tailEnd type="triangle"/>
          </a:ln>
        </p:spPr>
      </p:sp>
      <p:sp>
        <p:nvSpPr>
          <p:cNvPr id="41" name="Text 39"/>
          <p:cNvSpPr txBox="1"/>
          <p:nvPr/>
        </p:nvSpPr>
        <p:spPr>
          <a:xfrm>
            <a:off x="5614416" y="4242816"/>
            <a:ext cx="1024128" cy="201168"/>
          </a:xfrm>
          <a:prstGeom prst="rect">
            <a:avLst/>
          </a:prstGeom>
          <a:noFill/>
          <a:ln/>
        </p:spPr>
        <p:txBody>
          <a:bodyPr wrap="square" lIns="0" tIns="0" rIns="0" bIns="0" rtlCol="0" anchor="ctr"/>
          <a:lstStyle/>
          <a:p>
            <a:pPr marL="0" indent="0" algn="ctr">
              <a:buNone/>
            </a:pPr>
            <a:r>
              <a:rPr lang="en-US" sz="1000" dirty="0">
                <a:solidFill>
                  <a:schemeClr val="tx2"/>
                </a:solidFill>
              </a:rPr>
              <a:t>actions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400" b="1" dirty="0">
                <a:solidFill>
                  <a:schemeClr val="tx1"/>
                </a:solidFill>
              </a:rPr>
              <a:t>How the Code Executes</a:t>
            </a:r>
            <a:endParaRPr lang="en-US" sz="3400" dirty="0"/>
          </a:p>
        </p:txBody>
      </p:sp>
      <p:sp>
        <p:nvSpPr>
          <p:cNvPr id="3" name="Training area"/>
          <p:cNvSpPr/>
          <p:nvPr/>
        </p:nvSpPr>
        <p:spPr>
          <a:xfrm>
            <a:off x="365760" y="1005840"/>
            <a:ext cx="8412480" cy="2560320"/>
          </a:xfrm>
          <a:prstGeom prst="rect">
            <a:avLst/>
          </a:prstGeom>
          <a:solidFill>
            <a:schemeClr val="bg2"/>
          </a:solidFill>
          <a:ln w="12700">
            <a:solidFill>
              <a:schemeClr val="bg2"/>
            </a:solidFill>
            <a:prstDash val="solid"/>
          </a:ln>
        </p:spPr>
      </p:sp>
      <p:sp>
        <p:nvSpPr>
          <p:cNvPr id="4" name="Text 2"/>
          <p:cNvSpPr txBox="1"/>
          <p:nvPr/>
        </p:nvSpPr>
        <p:spPr>
          <a:xfrm>
            <a:off x="548640" y="1069848"/>
            <a:ext cx="2743200" cy="274320"/>
          </a:xfrm>
          <a:prstGeom prst="rect">
            <a:avLst/>
          </a:prstGeom>
          <a:noFill/>
          <a:ln/>
        </p:spPr>
        <p:txBody>
          <a:bodyPr wrap="square" lIns="0" tIns="0" rIns="0" bIns="0" rtlCol="0" anchor="ctr"/>
          <a:lstStyle/>
          <a:p>
            <a:pPr marL="0" indent="0">
              <a:buNone/>
            </a:pPr>
            <a:r>
              <a:rPr lang="en-US" sz="1300" b="1" dirty="0">
                <a:solidFill>
                  <a:schemeClr val="accent2"/>
                </a:solidFill>
              </a:rPr>
              <a:t>Training</a:t>
            </a:r>
            <a:endParaRPr lang="en-US" sz="1300" dirty="0"/>
          </a:p>
        </p:txBody>
      </p:sp>
      <p:sp>
        <p:nvSpPr>
          <p:cNvPr id="5" name="Step 1"/>
          <p:cNvSpPr/>
          <p:nvPr/>
        </p:nvSpPr>
        <p:spPr>
          <a:xfrm>
            <a:off x="731520" y="1463040"/>
            <a:ext cx="1645920" cy="777240"/>
          </a:xfrm>
          <a:prstGeom prst="rect">
            <a:avLst/>
          </a:prstGeom>
          <a:solidFill>
            <a:schemeClr val="bg1"/>
          </a:solidFill>
          <a:ln w="12700">
            <a:solidFill>
              <a:schemeClr val="accent1"/>
            </a:solidFill>
            <a:prstDash val="solid"/>
          </a:ln>
        </p:spPr>
      </p:sp>
      <p:sp>
        <p:nvSpPr>
          <p:cNvPr id="6" name="Text 4"/>
          <p:cNvSpPr txBox="1"/>
          <p:nvPr/>
        </p:nvSpPr>
        <p:spPr>
          <a:xfrm>
            <a:off x="822960" y="1463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1"/>
                </a:solidFill>
              </a:rPr>
              <a:t>1.  </a:t>
            </a:r>
            <a:r>
              <a:rPr lang="en-US" sz="1200" dirty="0">
                <a:solidFill>
                  <a:schemeClr val="tx1"/>
                </a:solidFill>
              </a:rPr>
              <a:t>Initialize environment and agent</a:t>
            </a:r>
            <a:endParaRPr lang="en-US" sz="1200" dirty="0"/>
          </a:p>
        </p:txBody>
      </p:sp>
      <p:sp>
        <p:nvSpPr>
          <p:cNvPr id="7" name="Step 2"/>
          <p:cNvSpPr/>
          <p:nvPr/>
        </p:nvSpPr>
        <p:spPr>
          <a:xfrm>
            <a:off x="2743200" y="1463040"/>
            <a:ext cx="1645920" cy="777240"/>
          </a:xfrm>
          <a:prstGeom prst="rect">
            <a:avLst/>
          </a:prstGeom>
          <a:solidFill>
            <a:schemeClr val="bg1"/>
          </a:solidFill>
          <a:ln w="12700">
            <a:solidFill>
              <a:schemeClr val="accent1"/>
            </a:solidFill>
            <a:prstDash val="solid"/>
          </a:ln>
        </p:spPr>
      </p:sp>
      <p:sp>
        <p:nvSpPr>
          <p:cNvPr id="8" name="Text 6"/>
          <p:cNvSpPr txBox="1"/>
          <p:nvPr/>
        </p:nvSpPr>
        <p:spPr>
          <a:xfrm>
            <a:off x="2834640" y="1463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1"/>
                </a:solidFill>
              </a:rPr>
              <a:t>2.  </a:t>
            </a:r>
            <a:r>
              <a:rPr lang="en-US" sz="1200" dirty="0">
                <a:solidFill>
                  <a:schemeClr val="tx1"/>
                </a:solidFill>
              </a:rPr>
              <a:t>Observe the current state</a:t>
            </a:r>
            <a:endParaRPr lang="en-US" sz="1200" dirty="0"/>
          </a:p>
        </p:txBody>
      </p:sp>
      <p:sp>
        <p:nvSpPr>
          <p:cNvPr id="9" name="Step 3"/>
          <p:cNvSpPr/>
          <p:nvPr/>
        </p:nvSpPr>
        <p:spPr>
          <a:xfrm>
            <a:off x="4754880" y="1463040"/>
            <a:ext cx="1645920" cy="777240"/>
          </a:xfrm>
          <a:prstGeom prst="rect">
            <a:avLst/>
          </a:prstGeom>
          <a:solidFill>
            <a:schemeClr val="bg1"/>
          </a:solidFill>
          <a:ln w="12700">
            <a:solidFill>
              <a:schemeClr val="accent1"/>
            </a:solidFill>
            <a:prstDash val="solid"/>
          </a:ln>
        </p:spPr>
      </p:sp>
      <p:sp>
        <p:nvSpPr>
          <p:cNvPr id="10" name="Text 8"/>
          <p:cNvSpPr txBox="1"/>
          <p:nvPr/>
        </p:nvSpPr>
        <p:spPr>
          <a:xfrm>
            <a:off x="4846320" y="1463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1"/>
                </a:solidFill>
              </a:rPr>
              <a:t>3.  </a:t>
            </a:r>
            <a:r>
              <a:rPr lang="en-US" sz="1200" dirty="0">
                <a:solidFill>
                  <a:schemeClr val="tx1"/>
                </a:solidFill>
              </a:rPr>
              <a:t>Pick an action (epsilon-greedy)</a:t>
            </a:r>
            <a:endParaRPr lang="en-US" sz="1200" dirty="0"/>
          </a:p>
        </p:txBody>
      </p:sp>
      <p:sp>
        <p:nvSpPr>
          <p:cNvPr id="11" name="Step 4"/>
          <p:cNvSpPr/>
          <p:nvPr/>
        </p:nvSpPr>
        <p:spPr>
          <a:xfrm>
            <a:off x="6766560" y="1463040"/>
            <a:ext cx="1645920" cy="777240"/>
          </a:xfrm>
          <a:prstGeom prst="rect">
            <a:avLst/>
          </a:prstGeom>
          <a:solidFill>
            <a:schemeClr val="bg1"/>
          </a:solidFill>
          <a:ln w="12700">
            <a:solidFill>
              <a:schemeClr val="accent1"/>
            </a:solidFill>
            <a:prstDash val="solid"/>
          </a:ln>
        </p:spPr>
      </p:sp>
      <p:sp>
        <p:nvSpPr>
          <p:cNvPr id="12" name="Text 10"/>
          <p:cNvSpPr txBox="1"/>
          <p:nvPr/>
        </p:nvSpPr>
        <p:spPr>
          <a:xfrm>
            <a:off x="6858000" y="1463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1"/>
                </a:solidFill>
              </a:rPr>
              <a:t>4.  </a:t>
            </a:r>
            <a:r>
              <a:rPr lang="en-US" sz="1200" dirty="0">
                <a:solidFill>
                  <a:schemeClr val="tx1"/>
                </a:solidFill>
              </a:rPr>
              <a:t>Act and get the reward</a:t>
            </a:r>
            <a:endParaRPr lang="en-US" sz="1200" dirty="0"/>
          </a:p>
        </p:txBody>
      </p:sp>
      <p:sp>
        <p:nvSpPr>
          <p:cNvPr id="13" name="Step 5"/>
          <p:cNvSpPr/>
          <p:nvPr/>
        </p:nvSpPr>
        <p:spPr>
          <a:xfrm>
            <a:off x="6766560" y="2606040"/>
            <a:ext cx="1645920" cy="777240"/>
          </a:xfrm>
          <a:prstGeom prst="rect">
            <a:avLst/>
          </a:prstGeom>
          <a:solidFill>
            <a:schemeClr val="bg1"/>
          </a:solidFill>
          <a:ln w="12700">
            <a:solidFill>
              <a:schemeClr val="accent2"/>
            </a:solidFill>
            <a:prstDash val="solid"/>
          </a:ln>
        </p:spPr>
      </p:sp>
      <p:sp>
        <p:nvSpPr>
          <p:cNvPr id="14" name="Text 12"/>
          <p:cNvSpPr txBox="1"/>
          <p:nvPr/>
        </p:nvSpPr>
        <p:spPr>
          <a:xfrm>
            <a:off x="6858000" y="2606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2"/>
                </a:solidFill>
              </a:rPr>
              <a:t>5.  </a:t>
            </a:r>
            <a:r>
              <a:rPr lang="en-US" sz="1200" dirty="0">
                <a:solidFill>
                  <a:schemeClr val="tx1"/>
                </a:solidFill>
              </a:rPr>
              <a:t>Store experience in replay memory</a:t>
            </a:r>
            <a:endParaRPr lang="en-US" sz="1200" dirty="0"/>
          </a:p>
        </p:txBody>
      </p:sp>
      <p:sp>
        <p:nvSpPr>
          <p:cNvPr id="15" name="Step 6"/>
          <p:cNvSpPr/>
          <p:nvPr/>
        </p:nvSpPr>
        <p:spPr>
          <a:xfrm>
            <a:off x="4754880" y="2606040"/>
            <a:ext cx="1645920" cy="777240"/>
          </a:xfrm>
          <a:prstGeom prst="rect">
            <a:avLst/>
          </a:prstGeom>
          <a:solidFill>
            <a:schemeClr val="bg1"/>
          </a:solidFill>
          <a:ln w="12700">
            <a:solidFill>
              <a:schemeClr val="accent2"/>
            </a:solidFill>
            <a:prstDash val="solid"/>
          </a:ln>
        </p:spPr>
      </p:sp>
      <p:sp>
        <p:nvSpPr>
          <p:cNvPr id="16" name="Text 14"/>
          <p:cNvSpPr txBox="1"/>
          <p:nvPr/>
        </p:nvSpPr>
        <p:spPr>
          <a:xfrm>
            <a:off x="4846320" y="2606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2"/>
                </a:solidFill>
              </a:rPr>
              <a:t>6.  </a:t>
            </a:r>
            <a:r>
              <a:rPr lang="en-US" sz="1200" dirty="0">
                <a:solidFill>
                  <a:schemeClr val="tx1"/>
                </a:solidFill>
              </a:rPr>
              <a:t>Train network on a sampled batch</a:t>
            </a:r>
            <a:endParaRPr lang="en-US" sz="1200" dirty="0"/>
          </a:p>
        </p:txBody>
      </p:sp>
      <p:sp>
        <p:nvSpPr>
          <p:cNvPr id="17" name="Step 7"/>
          <p:cNvSpPr/>
          <p:nvPr/>
        </p:nvSpPr>
        <p:spPr>
          <a:xfrm>
            <a:off x="2743200" y="2606040"/>
            <a:ext cx="1645920" cy="777240"/>
          </a:xfrm>
          <a:prstGeom prst="rect">
            <a:avLst/>
          </a:prstGeom>
          <a:solidFill>
            <a:schemeClr val="bg1"/>
          </a:solidFill>
          <a:ln w="12700">
            <a:solidFill>
              <a:schemeClr val="accent2"/>
            </a:solidFill>
            <a:prstDash val="solid"/>
          </a:ln>
        </p:spPr>
      </p:sp>
      <p:sp>
        <p:nvSpPr>
          <p:cNvPr id="18" name="Text 16"/>
          <p:cNvSpPr txBox="1"/>
          <p:nvPr/>
        </p:nvSpPr>
        <p:spPr>
          <a:xfrm>
            <a:off x="2834640" y="2606040"/>
            <a:ext cx="1463040" cy="777240"/>
          </a:xfrm>
          <a:prstGeom prst="rect">
            <a:avLst/>
          </a:prstGeom>
          <a:noFill/>
          <a:ln/>
        </p:spPr>
        <p:txBody>
          <a:bodyPr wrap="square" lIns="25400" tIns="25400" rIns="25400" bIns="25400" rtlCol="0" anchor="ctr"/>
          <a:lstStyle/>
          <a:p>
            <a:pPr marL="0" indent="0" algn="l">
              <a:buNone/>
            </a:pPr>
            <a:r>
              <a:rPr lang="en-US" sz="1200" b="1" dirty="0">
                <a:solidFill>
                  <a:schemeClr val="accent2"/>
                </a:solidFill>
              </a:rPr>
              <a:t>7.  </a:t>
            </a:r>
            <a:r>
              <a:rPr lang="en-US" sz="1200" dirty="0">
                <a:solidFill>
                  <a:schemeClr val="tx1"/>
                </a:solidFill>
              </a:rPr>
              <a:t>Repeat episodes; save checkpoint at reward target</a:t>
            </a:r>
            <a:endParaRPr lang="en-US" sz="1200" dirty="0"/>
          </a:p>
        </p:txBody>
      </p:sp>
      <p:sp>
        <p:nvSpPr>
          <p:cNvPr id="19" name="Shape 17"/>
          <p:cNvSpPr/>
          <p:nvPr/>
        </p:nvSpPr>
        <p:spPr>
          <a:xfrm>
            <a:off x="2404872" y="1851660"/>
            <a:ext cx="310896" cy="0"/>
          </a:xfrm>
          <a:prstGeom prst="line">
            <a:avLst/>
          </a:prstGeom>
          <a:noFill/>
          <a:ln w="15875">
            <a:solidFill>
              <a:schemeClr val="accent1"/>
            </a:solidFill>
            <a:prstDash val="solid"/>
            <a:tailEnd type="triangle"/>
          </a:ln>
        </p:spPr>
      </p:sp>
      <p:sp>
        <p:nvSpPr>
          <p:cNvPr id="20" name="Shape 18"/>
          <p:cNvSpPr/>
          <p:nvPr/>
        </p:nvSpPr>
        <p:spPr>
          <a:xfrm>
            <a:off x="4416552" y="1851660"/>
            <a:ext cx="310896" cy="0"/>
          </a:xfrm>
          <a:prstGeom prst="line">
            <a:avLst/>
          </a:prstGeom>
          <a:noFill/>
          <a:ln w="15875">
            <a:solidFill>
              <a:schemeClr val="accent1"/>
            </a:solidFill>
            <a:prstDash val="solid"/>
            <a:tailEnd type="triangle"/>
          </a:ln>
        </p:spPr>
      </p:sp>
      <p:sp>
        <p:nvSpPr>
          <p:cNvPr id="21" name="Shape 19"/>
          <p:cNvSpPr/>
          <p:nvPr/>
        </p:nvSpPr>
        <p:spPr>
          <a:xfrm>
            <a:off x="6428232" y="1851660"/>
            <a:ext cx="310896" cy="0"/>
          </a:xfrm>
          <a:prstGeom prst="line">
            <a:avLst/>
          </a:prstGeom>
          <a:noFill/>
          <a:ln w="15875">
            <a:solidFill>
              <a:schemeClr val="accent1"/>
            </a:solidFill>
            <a:prstDash val="solid"/>
            <a:tailEnd type="triangle"/>
          </a:ln>
        </p:spPr>
      </p:sp>
      <p:sp>
        <p:nvSpPr>
          <p:cNvPr id="22" name="Shape 20"/>
          <p:cNvSpPr/>
          <p:nvPr/>
        </p:nvSpPr>
        <p:spPr>
          <a:xfrm>
            <a:off x="7589520" y="2267712"/>
            <a:ext cx="0" cy="310896"/>
          </a:xfrm>
          <a:prstGeom prst="line">
            <a:avLst/>
          </a:prstGeom>
          <a:noFill/>
          <a:ln w="15875">
            <a:solidFill>
              <a:schemeClr val="accent2"/>
            </a:solidFill>
            <a:prstDash val="solid"/>
            <a:tailEnd type="triangle"/>
          </a:ln>
        </p:spPr>
      </p:sp>
      <p:sp>
        <p:nvSpPr>
          <p:cNvPr id="23" name="Shape 21"/>
          <p:cNvSpPr/>
          <p:nvPr/>
        </p:nvSpPr>
        <p:spPr>
          <a:xfrm flipH="1">
            <a:off x="6428232" y="2994660"/>
            <a:ext cx="310896" cy="0"/>
          </a:xfrm>
          <a:prstGeom prst="line">
            <a:avLst/>
          </a:prstGeom>
          <a:noFill/>
          <a:ln w="15875">
            <a:solidFill>
              <a:schemeClr val="accent2"/>
            </a:solidFill>
            <a:prstDash val="solid"/>
            <a:tailEnd type="triangle"/>
          </a:ln>
        </p:spPr>
      </p:sp>
      <p:sp>
        <p:nvSpPr>
          <p:cNvPr id="24" name="Shape 22"/>
          <p:cNvSpPr/>
          <p:nvPr/>
        </p:nvSpPr>
        <p:spPr>
          <a:xfrm flipH="1">
            <a:off x="4416552" y="2994660"/>
            <a:ext cx="310896" cy="0"/>
          </a:xfrm>
          <a:prstGeom prst="line">
            <a:avLst/>
          </a:prstGeom>
          <a:noFill/>
          <a:ln w="15875">
            <a:solidFill>
              <a:schemeClr val="accent2"/>
            </a:solidFill>
            <a:prstDash val="solid"/>
            <a:tailEnd type="triangle"/>
          </a:ln>
        </p:spPr>
      </p:sp>
      <p:sp>
        <p:nvSpPr>
          <p:cNvPr id="25" name="Shape 23"/>
          <p:cNvSpPr/>
          <p:nvPr/>
        </p:nvSpPr>
        <p:spPr>
          <a:xfrm flipV="1">
            <a:off x="5577840" y="2267712"/>
            <a:ext cx="0" cy="310896"/>
          </a:xfrm>
          <a:prstGeom prst="line">
            <a:avLst/>
          </a:prstGeom>
          <a:noFill/>
          <a:ln w="15875">
            <a:solidFill>
              <a:schemeClr val="accent2"/>
            </a:solidFill>
            <a:prstDash val="solid"/>
            <a:tailEnd type="triangle"/>
          </a:ln>
        </p:spPr>
      </p:sp>
      <p:sp>
        <p:nvSpPr>
          <p:cNvPr id="26" name="Text 24"/>
          <p:cNvSpPr txBox="1"/>
          <p:nvPr/>
        </p:nvSpPr>
        <p:spPr>
          <a:xfrm>
            <a:off x="5669280" y="2331720"/>
            <a:ext cx="822960" cy="201168"/>
          </a:xfrm>
          <a:prstGeom prst="rect">
            <a:avLst/>
          </a:prstGeom>
          <a:noFill/>
          <a:ln/>
        </p:spPr>
        <p:txBody>
          <a:bodyPr wrap="square" lIns="0" tIns="0" rIns="0" bIns="0" rtlCol="0" anchor="ctr"/>
          <a:lstStyle/>
          <a:p>
            <a:pPr marL="0" indent="0">
              <a:buNone/>
            </a:pPr>
            <a:r>
              <a:rPr lang="en-US" sz="1000" dirty="0">
                <a:solidFill>
                  <a:schemeClr val="tx2"/>
                </a:solidFill>
              </a:rPr>
              <a:t>loop back</a:t>
            </a:r>
            <a:endParaRPr lang="en-US" sz="1000" dirty="0"/>
          </a:p>
        </p:txBody>
      </p:sp>
      <p:sp>
        <p:nvSpPr>
          <p:cNvPr id="27" name="Text 25"/>
          <p:cNvSpPr txBox="1"/>
          <p:nvPr/>
        </p:nvSpPr>
        <p:spPr>
          <a:xfrm>
            <a:off x="731520" y="2651760"/>
            <a:ext cx="1691640" cy="731520"/>
          </a:xfrm>
          <a:prstGeom prst="rect">
            <a:avLst/>
          </a:prstGeom>
          <a:noFill/>
          <a:ln/>
        </p:spPr>
        <p:txBody>
          <a:bodyPr wrap="square" lIns="0" tIns="0" rIns="0" bIns="0" rtlCol="0" anchor="ctr"/>
          <a:lstStyle/>
          <a:p>
            <a:pPr marL="0" indent="0">
              <a:buNone/>
            </a:pPr>
            <a:r>
              <a:rPr lang="en-US" sz="1100" i="1" dirty="0">
                <a:solidFill>
                  <a:schemeClr val="tx2"/>
                </a:solidFill>
              </a:rPr>
              <a:t>Epsilon-greedy: mostly random moves early on, learned moves later</a:t>
            </a:r>
            <a:endParaRPr lang="en-US" sz="1100" dirty="0"/>
          </a:p>
        </p:txBody>
      </p:sp>
      <p:sp>
        <p:nvSpPr>
          <p:cNvPr id="28" name="Evaluation area"/>
          <p:cNvSpPr/>
          <p:nvPr/>
        </p:nvSpPr>
        <p:spPr>
          <a:xfrm>
            <a:off x="365760" y="3931920"/>
            <a:ext cx="8412480" cy="914400"/>
          </a:xfrm>
          <a:prstGeom prst="rect">
            <a:avLst/>
          </a:prstGeom>
          <a:solidFill>
            <a:schemeClr val="bg2"/>
          </a:solidFill>
          <a:ln w="12700">
            <a:solidFill>
              <a:schemeClr val="bg2"/>
            </a:solidFill>
            <a:prstDash val="solid"/>
          </a:ln>
        </p:spPr>
      </p:sp>
      <p:sp>
        <p:nvSpPr>
          <p:cNvPr id="29" name="Text 27"/>
          <p:cNvSpPr txBox="1"/>
          <p:nvPr/>
        </p:nvSpPr>
        <p:spPr>
          <a:xfrm>
            <a:off x="548640" y="4114800"/>
            <a:ext cx="2011680" cy="548640"/>
          </a:xfrm>
          <a:prstGeom prst="rect">
            <a:avLst/>
          </a:prstGeom>
          <a:noFill/>
          <a:ln/>
        </p:spPr>
        <p:txBody>
          <a:bodyPr wrap="square" lIns="0" tIns="0" rIns="0" bIns="0" rtlCol="0" anchor="ctr"/>
          <a:lstStyle/>
          <a:p>
            <a:pPr marL="0" indent="0">
              <a:buNone/>
            </a:pPr>
            <a:r>
              <a:rPr lang="en-US" sz="1300" b="1" dirty="0">
                <a:solidFill>
                  <a:schemeClr val="accent4"/>
                </a:solidFill>
              </a:rPr>
              <a:t>Evaluation</a:t>
            </a:r>
            <a:endParaRPr lang="en-US" sz="1300" dirty="0"/>
          </a:p>
          <a:p>
            <a:pPr marL="0" indent="0">
              <a:buNone/>
            </a:pPr>
            <a:r>
              <a:rPr lang="en-US" sz="1100" dirty="0">
                <a:solidFill>
                  <a:schemeClr val="tx2"/>
                </a:solidFill>
              </a:rPr>
              <a:t>watch_agent.py</a:t>
            </a:r>
            <a:endParaRPr lang="en-US" sz="1300" dirty="0"/>
          </a:p>
        </p:txBody>
      </p:sp>
      <p:sp>
        <p:nvSpPr>
          <p:cNvPr id="30" name="Step 8"/>
          <p:cNvSpPr/>
          <p:nvPr/>
        </p:nvSpPr>
        <p:spPr>
          <a:xfrm>
            <a:off x="2743200" y="4069080"/>
            <a:ext cx="3657600" cy="640080"/>
          </a:xfrm>
          <a:prstGeom prst="rect">
            <a:avLst/>
          </a:prstGeom>
          <a:solidFill>
            <a:schemeClr val="bg1"/>
          </a:solidFill>
          <a:ln w="12700">
            <a:solidFill>
              <a:schemeClr val="accent4"/>
            </a:solidFill>
            <a:prstDash val="solid"/>
          </a:ln>
        </p:spPr>
      </p:sp>
      <p:sp>
        <p:nvSpPr>
          <p:cNvPr id="31" name="Text 29"/>
          <p:cNvSpPr txBox="1"/>
          <p:nvPr/>
        </p:nvSpPr>
        <p:spPr>
          <a:xfrm>
            <a:off x="2834640" y="4069080"/>
            <a:ext cx="3474720" cy="640080"/>
          </a:xfrm>
          <a:prstGeom prst="rect">
            <a:avLst/>
          </a:prstGeom>
          <a:noFill/>
          <a:ln/>
        </p:spPr>
        <p:txBody>
          <a:bodyPr wrap="square" lIns="25400" tIns="25400" rIns="25400" bIns="25400" rtlCol="0" anchor="ctr"/>
          <a:lstStyle/>
          <a:p>
            <a:pPr marL="0" indent="0">
              <a:buNone/>
            </a:pPr>
            <a:r>
              <a:rPr lang="en-US" sz="1200" b="1" dirty="0">
                <a:solidFill>
                  <a:schemeClr val="accent4"/>
                </a:solidFill>
              </a:rPr>
              <a:t>8.  </a:t>
            </a:r>
            <a:r>
              <a:rPr lang="en-US" sz="1200" dirty="0">
                <a:solidFill>
                  <a:schemeClr val="tx1"/>
                </a:solidFill>
              </a:rPr>
              <a:t>Load the checkpoint and evaluate the agent</a:t>
            </a:r>
            <a:endParaRPr lang="en-US" sz="1200" dirty="0"/>
          </a:p>
        </p:txBody>
      </p:sp>
      <p:sp>
        <p:nvSpPr>
          <p:cNvPr id="32" name="Shape 30"/>
          <p:cNvSpPr/>
          <p:nvPr/>
        </p:nvSpPr>
        <p:spPr>
          <a:xfrm>
            <a:off x="3566160" y="3410712"/>
            <a:ext cx="0" cy="630936"/>
          </a:xfrm>
          <a:prstGeom prst="line">
            <a:avLst/>
          </a:prstGeom>
          <a:noFill/>
          <a:ln w="15875">
            <a:solidFill>
              <a:schemeClr val="accent4"/>
            </a:solidFill>
            <a:prstDash val="solid"/>
            <a:tailEnd type="triangle"/>
          </a:ln>
        </p:spPr>
      </p:sp>
      <p:sp>
        <p:nvSpPr>
          <p:cNvPr id="33" name="Text 31"/>
          <p:cNvSpPr txBox="1"/>
          <p:nvPr/>
        </p:nvSpPr>
        <p:spPr>
          <a:xfrm>
            <a:off x="3657600" y="3639312"/>
            <a:ext cx="1188720" cy="201168"/>
          </a:xfrm>
          <a:prstGeom prst="rect">
            <a:avLst/>
          </a:prstGeom>
          <a:noFill/>
          <a:ln/>
        </p:spPr>
        <p:txBody>
          <a:bodyPr wrap="square" lIns="0" tIns="0" rIns="0" bIns="0" rtlCol="0" anchor="ctr"/>
          <a:lstStyle/>
          <a:p>
            <a:pPr marL="0" indent="0">
              <a:buNone/>
            </a:pPr>
            <a:r>
              <a:rPr lang="en-US" sz="1000" dirty="0">
                <a:solidFill>
                  <a:schemeClr val="tx2"/>
                </a:solidFill>
              </a:rPr>
              <a:t>.pth file saved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3400" b="1" dirty="0">
                <a:solidFill>
                  <a:schemeClr val="tx1"/>
                </a:solidFill>
              </a:rPr>
              <a:t>Results and Key Takeaways</a:t>
            </a:r>
            <a:endParaRPr lang="en-US" sz="3400" dirty="0"/>
          </a:p>
        </p:txBody>
      </p:sp>
      <p:pic>
        <p:nvPicPr>
          <p:cNvPr id="3" name="Image 0" descr="Trained agent after landing"/>
          <p:cNvPicPr>
            <a:picLocks noChangeAspect="1"/>
          </p:cNvPicPr>
          <p:nvPr/>
        </p:nvPicPr>
        <p:blipFill>
          <a:blip r:embed="rId3"/>
          <a:stretch>
            <a:fillRect/>
          </a:stretch>
        </p:blipFill>
        <p:spPr>
          <a:xfrm>
            <a:off x="457200" y="1005840"/>
            <a:ext cx="3840480" cy="2560320"/>
          </a:xfrm>
          <a:prstGeom prst="rect">
            <a:avLst/>
          </a:prstGeom>
        </p:spPr>
      </p:pic>
      <p:sp>
        <p:nvSpPr>
          <p:cNvPr id="4" name="Text 1"/>
          <p:cNvSpPr txBox="1"/>
          <p:nvPr/>
        </p:nvSpPr>
        <p:spPr>
          <a:xfrm>
            <a:off x="457200" y="3611880"/>
            <a:ext cx="3840480" cy="201168"/>
          </a:xfrm>
          <a:prstGeom prst="rect">
            <a:avLst/>
          </a:prstGeom>
          <a:noFill/>
          <a:ln/>
        </p:spPr>
        <p:txBody>
          <a:bodyPr wrap="square" lIns="0" tIns="0" rIns="0" bIns="0" rtlCol="0" anchor="ctr"/>
          <a:lstStyle/>
          <a:p>
            <a:pPr marL="0" indent="0">
              <a:buNone/>
            </a:pPr>
            <a:r>
              <a:rPr lang="en-US" sz="1000" dirty="0">
                <a:solidFill>
                  <a:schemeClr val="tx2"/>
                </a:solidFill>
              </a:rPr>
              <a:t>The trained agent after landing (test run with seed 1, score 244.9)</a:t>
            </a:r>
            <a:endParaRPr lang="en-US" sz="1000" dirty="0"/>
          </a:p>
        </p:txBody>
      </p:sp>
      <p:sp>
        <p:nvSpPr>
          <p:cNvPr id="5" name="Text 2"/>
          <p:cNvSpPr txBox="1"/>
          <p:nvPr/>
        </p:nvSpPr>
        <p:spPr>
          <a:xfrm>
            <a:off x="4572000" y="1005840"/>
            <a:ext cx="4114800" cy="685800"/>
          </a:xfrm>
          <a:prstGeom prst="rect">
            <a:avLst/>
          </a:prstGeom>
          <a:noFill/>
          <a:ln/>
        </p:spPr>
        <p:txBody>
          <a:bodyPr wrap="square" lIns="0" tIns="0" rIns="0" bIns="0" rtlCol="0" anchor="t"/>
          <a:lstStyle/>
          <a:p>
            <a:pPr marL="0" indent="0">
              <a:buNone/>
            </a:pPr>
            <a:r>
              <a:rPr lang="en-US" sz="1500" dirty="0">
                <a:solidFill>
                  <a:schemeClr val="tx1"/>
                </a:solidFill>
              </a:rPr>
              <a:t>On 20 test runs, the average score was </a:t>
            </a:r>
            <a:r>
              <a:rPr lang="en-US" sz="1500" b="1" dirty="0">
                <a:solidFill>
                  <a:schemeClr val="accent1"/>
                </a:solidFill>
              </a:rPr>
              <a:t>214.7</a:t>
            </a:r>
            <a:r>
              <a:rPr lang="en-US" sz="1500" dirty="0">
                <a:solidFill>
                  <a:schemeClr val="tx1"/>
                </a:solidFill>
              </a:rPr>
              <a:t>, and </a:t>
            </a:r>
            <a:r>
              <a:rPr lang="en-US" sz="1500" b="1" dirty="0">
                <a:solidFill>
                  <a:schemeClr val="accent1"/>
                </a:solidFill>
              </a:rPr>
              <a:t>15 of 20</a:t>
            </a:r>
            <a:r>
              <a:rPr lang="en-US" sz="1500" dirty="0">
                <a:solidFill>
                  <a:schemeClr val="tx1"/>
                </a:solidFill>
              </a:rPr>
              <a:t> runs scored 200 or more.</a:t>
            </a:r>
            <a:endParaRPr lang="en-US" sz="1500" dirty="0"/>
          </a:p>
        </p:txBody>
      </p:sp>
      <p:graphicFrame>
        <p:nvGraphicFramePr>
          <p:cNvPr id="6" name="Chart 0"/>
          <p:cNvGraphicFramePr/>
          <p:nvPr/>
        </p:nvGraphicFramePr>
        <p:xfrm>
          <a:off x="4480560" y="1783080"/>
          <a:ext cx="429768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480560" y="3611880"/>
            <a:ext cx="4297680" cy="365760"/>
          </a:xfrm>
          <a:prstGeom prst="rect">
            <a:avLst/>
          </a:prstGeom>
          <a:noFill/>
          <a:ln/>
        </p:spPr>
        <p:txBody>
          <a:bodyPr wrap="square" lIns="0" tIns="0" rIns="0" bIns="0" rtlCol="0" anchor="ctr"/>
          <a:lstStyle/>
          <a:p>
            <a:pPr marL="0" indent="0">
              <a:buNone/>
            </a:pPr>
            <a:r>
              <a:rPr lang="en-US" sz="1000" dirty="0">
                <a:solidFill>
                  <a:schemeClr val="tx2"/>
                </a:solidFill>
              </a:rPr>
              <a:t>Greedy test runs, seeds 0–19, using the repo checkpoint. Training reward curve: still to add.</a:t>
            </a:r>
            <a:endParaRPr lang="en-US" sz="1000" dirty="0"/>
          </a:p>
        </p:txBody>
      </p:sp>
      <p:sp>
        <p:nvSpPr>
          <p:cNvPr id="8" name="Text 4"/>
          <p:cNvSpPr txBox="1"/>
          <p:nvPr/>
        </p:nvSpPr>
        <p:spPr>
          <a:xfrm>
            <a:off x="457200" y="4023360"/>
            <a:ext cx="6949440" cy="822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The agent learns what to do by trying, getting a reward, and adjusting.</a:t>
            </a:r>
            <a:endParaRPr lang="en-US" sz="1400" dirty="0"/>
          </a:p>
          <a:p>
            <a:pPr marL="342900" indent="-342900">
              <a:spcAft>
                <a:spcPts val="400"/>
              </a:spcAft>
              <a:buSzPct val="100000"/>
              <a:buChar char="•"/>
            </a:pPr>
            <a:r>
              <a:rPr lang="en-US" sz="1400" dirty="0">
                <a:solidFill>
                  <a:schemeClr val="tx1"/>
                </a:solidFill>
              </a:rPr>
              <a:t>Next: make training steadier and tune the hyperparameters.</a:t>
            </a:r>
            <a:endParaRPr lang="en-US" sz="1400" dirty="0"/>
          </a:p>
          <a:p>
            <a:pPr marL="342900" indent="-342900">
              <a:spcAft>
                <a:spcPts val="400"/>
              </a:spcAft>
              <a:buSzPct val="100000"/>
              <a:buChar char="•"/>
            </a:pPr>
            <a:r>
              <a:rPr lang="en-US" sz="1400" dirty="0">
                <a:solidFill>
                  <a:schemeClr val="tx1"/>
                </a:solidFill>
              </a:rPr>
              <a:t>Next: test on more episodes.</a:t>
            </a:r>
            <a:endParaRPr lang="en-US" sz="1400" dirty="0"/>
          </a:p>
        </p:txBody>
      </p:sp>
    </p:spTree>
  </p:cSld>
  <p:clrMapOvr>
    <a:masterClrMapping/>
  </p:clrMapOvr>
</p:sld>
</file>

<file path=ppt/theme/theme1.xml><?xml version="1.0" encoding="utf-8"?>
<a:theme xmlns:a="http://schemas.openxmlformats.org/drawingml/2006/main" name="LunarLander Space">
  <a:themeElements>
    <a:clrScheme name="LunarLander Space">
      <a:dk1>
        <a:srgbClr val="F8FAFC"/>
      </a:dk1>
      <a:lt1>
        <a:srgbClr val="0B1020"/>
      </a:lt1>
      <a:dk2>
        <a:srgbClr val="94A3B8"/>
      </a:dk2>
      <a:lt2>
        <a:srgbClr val="131B33"/>
      </a:lt2>
      <a:accent1>
        <a:srgbClr val="38BDF8"/>
      </a:accent1>
      <a:accent2>
        <a:srgbClr val="A78BFA"/>
      </a:accent2>
      <a:accent3>
        <a:srgbClr val="34D399"/>
      </a:accent3>
      <a:accent4>
        <a:srgbClr val="FBBF24"/>
      </a:accent4>
      <a:accent5>
        <a:srgbClr val="334155"/>
      </a:accent5>
      <a:accent6>
        <a:srgbClr val="F472B6"/>
      </a:accent6>
      <a:hlink>
        <a:srgbClr val="38BDF8"/>
      </a:hlink>
      <a:folHlink>
        <a:srgbClr val="A78BFA"/>
      </a:folHlink>
    </a:clrScheme>
    <a:fontScheme name="LunarLander Spa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716</Words>
  <Application>Microsoft Office PowerPoint</Application>
  <PresentationFormat>On-screen Show (16:9)</PresentationFormat>
  <Paragraphs>86</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LunarLander Space</vt:lpstr>
      <vt:lpstr>Autonomous Lunar Lander Using Deep Reinforcement Learning</vt:lpstr>
      <vt:lpstr>How Does the Agent Learn?</vt:lpstr>
      <vt:lpstr>Project Architecture</vt:lpstr>
      <vt:lpstr>How the Code Executes</vt:lpstr>
      <vt:lpstr>Results and 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Lunar Lander Using Deep Reinforcement Learning</dc:title>
  <dc:subject>PptxGenJS Presentation</dc:subject>
  <dc:creator>[Presenter Name]</dc:creator>
  <cp:lastModifiedBy>SRIKAR MOTHUKURU</cp:lastModifiedBy>
  <cp:revision>2</cp:revision>
  <dcterms:created xsi:type="dcterms:W3CDTF">2026-10-26T18:46:47Z</dcterms:created>
  <dcterms:modified xsi:type="dcterms:W3CDTF">2026-10-26T19:20:40Z</dcterms:modified>
</cp:coreProperties>
</file>